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64" r:id="rId6"/>
    <p:sldId id="265" r:id="rId7"/>
    <p:sldId id="266" r:id="rId8"/>
    <p:sldId id="267" r:id="rId9"/>
    <p:sldId id="268" r:id="rId10"/>
    <p:sldId id="26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2F9D7-0F86-4AF9-959B-E6B9110F07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5E3573C-F441-6E09-5714-6A42FDA013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4F180D2-BF26-E45A-1A8F-06A181765970}"/>
              </a:ext>
            </a:extLst>
          </p:cNvPr>
          <p:cNvSpPr>
            <a:spLocks noGrp="1"/>
          </p:cNvSpPr>
          <p:nvPr>
            <p:ph type="dt" sz="half" idx="10"/>
          </p:nvPr>
        </p:nvSpPr>
        <p:spPr/>
        <p:txBody>
          <a:bodyPr/>
          <a:lstStyle/>
          <a:p>
            <a:fld id="{38AC1B5A-A6E7-47B5-8E25-40B482FE26BE}" type="datetimeFigureOut">
              <a:rPr lang="en-IN" smtClean="0"/>
              <a:t>05-05-2024</a:t>
            </a:fld>
            <a:endParaRPr lang="en-IN"/>
          </a:p>
        </p:txBody>
      </p:sp>
      <p:sp>
        <p:nvSpPr>
          <p:cNvPr id="5" name="Footer Placeholder 4">
            <a:extLst>
              <a:ext uri="{FF2B5EF4-FFF2-40B4-BE49-F238E27FC236}">
                <a16:creationId xmlns:a16="http://schemas.microsoft.com/office/drawing/2014/main" id="{C5172E6A-3F1A-4440-F892-6FA09682DA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557242-CC01-9121-6010-F85090FC6BC8}"/>
              </a:ext>
            </a:extLst>
          </p:cNvPr>
          <p:cNvSpPr>
            <a:spLocks noGrp="1"/>
          </p:cNvSpPr>
          <p:nvPr>
            <p:ph type="sldNum" sz="quarter" idx="12"/>
          </p:nvPr>
        </p:nvSpPr>
        <p:spPr/>
        <p:txBody>
          <a:bodyPr/>
          <a:lstStyle/>
          <a:p>
            <a:fld id="{6362F90E-0612-42DD-BEDD-CF696D4ADB0E}" type="slidenum">
              <a:rPr lang="en-IN" smtClean="0"/>
              <a:t>‹#›</a:t>
            </a:fld>
            <a:endParaRPr lang="en-IN"/>
          </a:p>
        </p:txBody>
      </p:sp>
    </p:spTree>
    <p:extLst>
      <p:ext uri="{BB962C8B-B14F-4D97-AF65-F5344CB8AC3E}">
        <p14:creationId xmlns:p14="http://schemas.microsoft.com/office/powerpoint/2010/main" val="400745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4BC6C-C1DA-0A12-4CB3-9EDDAD89F24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CB6BAA-E1EE-C709-9FD6-AA92EE9BF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C65200-A1E6-CE02-1AD5-C65C159F5D04}"/>
              </a:ext>
            </a:extLst>
          </p:cNvPr>
          <p:cNvSpPr>
            <a:spLocks noGrp="1"/>
          </p:cNvSpPr>
          <p:nvPr>
            <p:ph type="dt" sz="half" idx="10"/>
          </p:nvPr>
        </p:nvSpPr>
        <p:spPr/>
        <p:txBody>
          <a:bodyPr/>
          <a:lstStyle/>
          <a:p>
            <a:fld id="{38AC1B5A-A6E7-47B5-8E25-40B482FE26BE}" type="datetimeFigureOut">
              <a:rPr lang="en-IN" smtClean="0"/>
              <a:t>05-05-2024</a:t>
            </a:fld>
            <a:endParaRPr lang="en-IN"/>
          </a:p>
        </p:txBody>
      </p:sp>
      <p:sp>
        <p:nvSpPr>
          <p:cNvPr id="5" name="Footer Placeholder 4">
            <a:extLst>
              <a:ext uri="{FF2B5EF4-FFF2-40B4-BE49-F238E27FC236}">
                <a16:creationId xmlns:a16="http://schemas.microsoft.com/office/drawing/2014/main" id="{3C73B02B-858C-B59B-AA4E-82AF5B270C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8D0331-9316-2A43-916C-E46184BBE314}"/>
              </a:ext>
            </a:extLst>
          </p:cNvPr>
          <p:cNvSpPr>
            <a:spLocks noGrp="1"/>
          </p:cNvSpPr>
          <p:nvPr>
            <p:ph type="sldNum" sz="quarter" idx="12"/>
          </p:nvPr>
        </p:nvSpPr>
        <p:spPr/>
        <p:txBody>
          <a:bodyPr/>
          <a:lstStyle/>
          <a:p>
            <a:fld id="{6362F90E-0612-42DD-BEDD-CF696D4ADB0E}" type="slidenum">
              <a:rPr lang="en-IN" smtClean="0"/>
              <a:t>‹#›</a:t>
            </a:fld>
            <a:endParaRPr lang="en-IN"/>
          </a:p>
        </p:txBody>
      </p:sp>
    </p:spTree>
    <p:extLst>
      <p:ext uri="{BB962C8B-B14F-4D97-AF65-F5344CB8AC3E}">
        <p14:creationId xmlns:p14="http://schemas.microsoft.com/office/powerpoint/2010/main" val="1923941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59863-8596-44C6-5C04-0C937FD578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E5ABDBE-96FD-E779-4760-8BB824CD937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4DC296-4CEC-CD48-9830-C526A5A641DA}"/>
              </a:ext>
            </a:extLst>
          </p:cNvPr>
          <p:cNvSpPr>
            <a:spLocks noGrp="1"/>
          </p:cNvSpPr>
          <p:nvPr>
            <p:ph type="dt" sz="half" idx="10"/>
          </p:nvPr>
        </p:nvSpPr>
        <p:spPr/>
        <p:txBody>
          <a:bodyPr/>
          <a:lstStyle/>
          <a:p>
            <a:fld id="{38AC1B5A-A6E7-47B5-8E25-40B482FE26BE}" type="datetimeFigureOut">
              <a:rPr lang="en-IN" smtClean="0"/>
              <a:t>05-05-2024</a:t>
            </a:fld>
            <a:endParaRPr lang="en-IN"/>
          </a:p>
        </p:txBody>
      </p:sp>
      <p:sp>
        <p:nvSpPr>
          <p:cNvPr id="5" name="Footer Placeholder 4">
            <a:extLst>
              <a:ext uri="{FF2B5EF4-FFF2-40B4-BE49-F238E27FC236}">
                <a16:creationId xmlns:a16="http://schemas.microsoft.com/office/drawing/2014/main" id="{7A767927-C6AE-7EB3-7597-6B30A1EB02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580A65-515B-3DA4-2C64-CB196AFBEA6B}"/>
              </a:ext>
            </a:extLst>
          </p:cNvPr>
          <p:cNvSpPr>
            <a:spLocks noGrp="1"/>
          </p:cNvSpPr>
          <p:nvPr>
            <p:ph type="sldNum" sz="quarter" idx="12"/>
          </p:nvPr>
        </p:nvSpPr>
        <p:spPr/>
        <p:txBody>
          <a:bodyPr/>
          <a:lstStyle/>
          <a:p>
            <a:fld id="{6362F90E-0612-42DD-BEDD-CF696D4ADB0E}" type="slidenum">
              <a:rPr lang="en-IN" smtClean="0"/>
              <a:t>‹#›</a:t>
            </a:fld>
            <a:endParaRPr lang="en-IN"/>
          </a:p>
        </p:txBody>
      </p:sp>
    </p:spTree>
    <p:extLst>
      <p:ext uri="{BB962C8B-B14F-4D97-AF65-F5344CB8AC3E}">
        <p14:creationId xmlns:p14="http://schemas.microsoft.com/office/powerpoint/2010/main" val="169231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D2EBC-2198-D2C5-CD23-F96101029CE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E5A2096-161F-1E1E-4911-CF63AD0B0A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E12CC10-AEE3-D67C-6C08-A7286C6C45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A248834-92DE-2655-EA4A-0FEDDD932B6D}"/>
              </a:ext>
            </a:extLst>
          </p:cNvPr>
          <p:cNvSpPr>
            <a:spLocks noGrp="1"/>
          </p:cNvSpPr>
          <p:nvPr>
            <p:ph type="dt" sz="half" idx="10"/>
          </p:nvPr>
        </p:nvSpPr>
        <p:spPr/>
        <p:txBody>
          <a:bodyPr/>
          <a:lstStyle/>
          <a:p>
            <a:fld id="{38AC1B5A-A6E7-47B5-8E25-40B482FE26BE}" type="datetimeFigureOut">
              <a:rPr lang="en-IN" smtClean="0"/>
              <a:t>05-05-2024</a:t>
            </a:fld>
            <a:endParaRPr lang="en-IN"/>
          </a:p>
        </p:txBody>
      </p:sp>
      <p:sp>
        <p:nvSpPr>
          <p:cNvPr id="6" name="Footer Placeholder 5">
            <a:extLst>
              <a:ext uri="{FF2B5EF4-FFF2-40B4-BE49-F238E27FC236}">
                <a16:creationId xmlns:a16="http://schemas.microsoft.com/office/drawing/2014/main" id="{24371A49-1329-3AA7-34E8-41A72FC673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3916C51-02A8-1181-821A-70D42C806508}"/>
              </a:ext>
            </a:extLst>
          </p:cNvPr>
          <p:cNvSpPr>
            <a:spLocks noGrp="1"/>
          </p:cNvSpPr>
          <p:nvPr>
            <p:ph type="sldNum" sz="quarter" idx="12"/>
          </p:nvPr>
        </p:nvSpPr>
        <p:spPr/>
        <p:txBody>
          <a:bodyPr/>
          <a:lstStyle/>
          <a:p>
            <a:fld id="{6362F90E-0612-42DD-BEDD-CF696D4ADB0E}" type="slidenum">
              <a:rPr lang="en-IN" smtClean="0"/>
              <a:t>‹#›</a:t>
            </a:fld>
            <a:endParaRPr lang="en-IN"/>
          </a:p>
        </p:txBody>
      </p:sp>
    </p:spTree>
    <p:extLst>
      <p:ext uri="{BB962C8B-B14F-4D97-AF65-F5344CB8AC3E}">
        <p14:creationId xmlns:p14="http://schemas.microsoft.com/office/powerpoint/2010/main" val="3648681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D1B21-F1AF-3738-8AA1-29040EE9F09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25C1E3-A3EF-4DFF-59EC-EB32E188D4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671758-A5B2-7624-F4E9-D347FD5DA2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C819BA7-4E31-05DD-38EE-6553C146BA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C544E5-A0BE-0A6C-82E1-DE883B4FBC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348DF84-6E13-3F34-EB5B-63D3C55EC02A}"/>
              </a:ext>
            </a:extLst>
          </p:cNvPr>
          <p:cNvSpPr>
            <a:spLocks noGrp="1"/>
          </p:cNvSpPr>
          <p:nvPr>
            <p:ph type="dt" sz="half" idx="10"/>
          </p:nvPr>
        </p:nvSpPr>
        <p:spPr/>
        <p:txBody>
          <a:bodyPr/>
          <a:lstStyle/>
          <a:p>
            <a:fld id="{38AC1B5A-A6E7-47B5-8E25-40B482FE26BE}" type="datetimeFigureOut">
              <a:rPr lang="en-IN" smtClean="0"/>
              <a:t>05-05-2024</a:t>
            </a:fld>
            <a:endParaRPr lang="en-IN"/>
          </a:p>
        </p:txBody>
      </p:sp>
      <p:sp>
        <p:nvSpPr>
          <p:cNvPr id="8" name="Footer Placeholder 7">
            <a:extLst>
              <a:ext uri="{FF2B5EF4-FFF2-40B4-BE49-F238E27FC236}">
                <a16:creationId xmlns:a16="http://schemas.microsoft.com/office/drawing/2014/main" id="{6D74897A-3E20-2EF0-F3C5-1F0DDDC8499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0C55B16-4BD1-701F-FCF5-FD0250F02702}"/>
              </a:ext>
            </a:extLst>
          </p:cNvPr>
          <p:cNvSpPr>
            <a:spLocks noGrp="1"/>
          </p:cNvSpPr>
          <p:nvPr>
            <p:ph type="sldNum" sz="quarter" idx="12"/>
          </p:nvPr>
        </p:nvSpPr>
        <p:spPr/>
        <p:txBody>
          <a:bodyPr/>
          <a:lstStyle/>
          <a:p>
            <a:fld id="{6362F90E-0612-42DD-BEDD-CF696D4ADB0E}" type="slidenum">
              <a:rPr lang="en-IN" smtClean="0"/>
              <a:t>‹#›</a:t>
            </a:fld>
            <a:endParaRPr lang="en-IN"/>
          </a:p>
        </p:txBody>
      </p:sp>
    </p:spTree>
    <p:extLst>
      <p:ext uri="{BB962C8B-B14F-4D97-AF65-F5344CB8AC3E}">
        <p14:creationId xmlns:p14="http://schemas.microsoft.com/office/powerpoint/2010/main" val="2832625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EB3AF-6892-4ABE-9511-A5D9AC20FA8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FA7F426-E581-3309-BCC2-EB11B32FB036}"/>
              </a:ext>
            </a:extLst>
          </p:cNvPr>
          <p:cNvSpPr>
            <a:spLocks noGrp="1"/>
          </p:cNvSpPr>
          <p:nvPr>
            <p:ph type="dt" sz="half" idx="10"/>
          </p:nvPr>
        </p:nvSpPr>
        <p:spPr/>
        <p:txBody>
          <a:bodyPr/>
          <a:lstStyle/>
          <a:p>
            <a:fld id="{38AC1B5A-A6E7-47B5-8E25-40B482FE26BE}" type="datetimeFigureOut">
              <a:rPr lang="en-IN" smtClean="0"/>
              <a:t>05-05-2024</a:t>
            </a:fld>
            <a:endParaRPr lang="en-IN"/>
          </a:p>
        </p:txBody>
      </p:sp>
      <p:sp>
        <p:nvSpPr>
          <p:cNvPr id="4" name="Footer Placeholder 3">
            <a:extLst>
              <a:ext uri="{FF2B5EF4-FFF2-40B4-BE49-F238E27FC236}">
                <a16:creationId xmlns:a16="http://schemas.microsoft.com/office/drawing/2014/main" id="{C217965E-1C65-4A7D-B145-9110A22D412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737E3F6-5027-F9D4-DEF2-AA34E7283CDC}"/>
              </a:ext>
            </a:extLst>
          </p:cNvPr>
          <p:cNvSpPr>
            <a:spLocks noGrp="1"/>
          </p:cNvSpPr>
          <p:nvPr>
            <p:ph type="sldNum" sz="quarter" idx="12"/>
          </p:nvPr>
        </p:nvSpPr>
        <p:spPr/>
        <p:txBody>
          <a:bodyPr/>
          <a:lstStyle/>
          <a:p>
            <a:fld id="{6362F90E-0612-42DD-BEDD-CF696D4ADB0E}" type="slidenum">
              <a:rPr lang="en-IN" smtClean="0"/>
              <a:t>‹#›</a:t>
            </a:fld>
            <a:endParaRPr lang="en-IN"/>
          </a:p>
        </p:txBody>
      </p:sp>
    </p:spTree>
    <p:extLst>
      <p:ext uri="{BB962C8B-B14F-4D97-AF65-F5344CB8AC3E}">
        <p14:creationId xmlns:p14="http://schemas.microsoft.com/office/powerpoint/2010/main" val="3987664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482B3D-6EC6-E640-6B1C-703A85F513F5}"/>
              </a:ext>
            </a:extLst>
          </p:cNvPr>
          <p:cNvSpPr>
            <a:spLocks noGrp="1"/>
          </p:cNvSpPr>
          <p:nvPr>
            <p:ph type="dt" sz="half" idx="10"/>
          </p:nvPr>
        </p:nvSpPr>
        <p:spPr/>
        <p:txBody>
          <a:bodyPr/>
          <a:lstStyle/>
          <a:p>
            <a:fld id="{38AC1B5A-A6E7-47B5-8E25-40B482FE26BE}" type="datetimeFigureOut">
              <a:rPr lang="en-IN" smtClean="0"/>
              <a:t>05-05-2024</a:t>
            </a:fld>
            <a:endParaRPr lang="en-IN"/>
          </a:p>
        </p:txBody>
      </p:sp>
      <p:sp>
        <p:nvSpPr>
          <p:cNvPr id="3" name="Footer Placeholder 2">
            <a:extLst>
              <a:ext uri="{FF2B5EF4-FFF2-40B4-BE49-F238E27FC236}">
                <a16:creationId xmlns:a16="http://schemas.microsoft.com/office/drawing/2014/main" id="{6D3F89B0-AC8B-CFC8-45DB-6EED307E3C3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9CB59F2-5634-59C2-FABE-637B7F20CC6B}"/>
              </a:ext>
            </a:extLst>
          </p:cNvPr>
          <p:cNvSpPr>
            <a:spLocks noGrp="1"/>
          </p:cNvSpPr>
          <p:nvPr>
            <p:ph type="sldNum" sz="quarter" idx="12"/>
          </p:nvPr>
        </p:nvSpPr>
        <p:spPr/>
        <p:txBody>
          <a:bodyPr/>
          <a:lstStyle/>
          <a:p>
            <a:fld id="{6362F90E-0612-42DD-BEDD-CF696D4ADB0E}" type="slidenum">
              <a:rPr lang="en-IN" smtClean="0"/>
              <a:t>‹#›</a:t>
            </a:fld>
            <a:endParaRPr lang="en-IN"/>
          </a:p>
        </p:txBody>
      </p:sp>
    </p:spTree>
    <p:extLst>
      <p:ext uri="{BB962C8B-B14F-4D97-AF65-F5344CB8AC3E}">
        <p14:creationId xmlns:p14="http://schemas.microsoft.com/office/powerpoint/2010/main" val="2895677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C8C73-8A09-BFE4-A15A-15A1AEF748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40AC32B-78BC-83A2-F5EA-1D95015F76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7DAB146-67DF-F1E5-10CD-EE545AFA8C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17764B-1A67-17D2-FF51-AF91DAC3FBA5}"/>
              </a:ext>
            </a:extLst>
          </p:cNvPr>
          <p:cNvSpPr>
            <a:spLocks noGrp="1"/>
          </p:cNvSpPr>
          <p:nvPr>
            <p:ph type="dt" sz="half" idx="10"/>
          </p:nvPr>
        </p:nvSpPr>
        <p:spPr/>
        <p:txBody>
          <a:bodyPr/>
          <a:lstStyle/>
          <a:p>
            <a:fld id="{38AC1B5A-A6E7-47B5-8E25-40B482FE26BE}" type="datetimeFigureOut">
              <a:rPr lang="en-IN" smtClean="0"/>
              <a:t>05-05-2024</a:t>
            </a:fld>
            <a:endParaRPr lang="en-IN"/>
          </a:p>
        </p:txBody>
      </p:sp>
      <p:sp>
        <p:nvSpPr>
          <p:cNvPr id="6" name="Footer Placeholder 5">
            <a:extLst>
              <a:ext uri="{FF2B5EF4-FFF2-40B4-BE49-F238E27FC236}">
                <a16:creationId xmlns:a16="http://schemas.microsoft.com/office/drawing/2014/main" id="{863AE334-6C0B-599C-C9CB-0FA73AE7FD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BDDA2C-38C6-FEA2-17F5-3313F57FFD45}"/>
              </a:ext>
            </a:extLst>
          </p:cNvPr>
          <p:cNvSpPr>
            <a:spLocks noGrp="1"/>
          </p:cNvSpPr>
          <p:nvPr>
            <p:ph type="sldNum" sz="quarter" idx="12"/>
          </p:nvPr>
        </p:nvSpPr>
        <p:spPr/>
        <p:txBody>
          <a:bodyPr/>
          <a:lstStyle/>
          <a:p>
            <a:fld id="{6362F90E-0612-42DD-BEDD-CF696D4ADB0E}" type="slidenum">
              <a:rPr lang="en-IN" smtClean="0"/>
              <a:t>‹#›</a:t>
            </a:fld>
            <a:endParaRPr lang="en-IN"/>
          </a:p>
        </p:txBody>
      </p:sp>
    </p:spTree>
    <p:extLst>
      <p:ext uri="{BB962C8B-B14F-4D97-AF65-F5344CB8AC3E}">
        <p14:creationId xmlns:p14="http://schemas.microsoft.com/office/powerpoint/2010/main" val="3322786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AA9BA-ACD7-32E2-AC34-B7B335CCE2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6D23AF3-020E-97E7-8D17-6B66ABB281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5AAC3BB-17BC-4505-78CB-671FF3AC53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3AD305-74CE-D3FD-3CD2-DFB3CDF70472}"/>
              </a:ext>
            </a:extLst>
          </p:cNvPr>
          <p:cNvSpPr>
            <a:spLocks noGrp="1"/>
          </p:cNvSpPr>
          <p:nvPr>
            <p:ph type="dt" sz="half" idx="10"/>
          </p:nvPr>
        </p:nvSpPr>
        <p:spPr/>
        <p:txBody>
          <a:bodyPr/>
          <a:lstStyle/>
          <a:p>
            <a:fld id="{38AC1B5A-A6E7-47B5-8E25-40B482FE26BE}" type="datetimeFigureOut">
              <a:rPr lang="en-IN" smtClean="0"/>
              <a:t>05-05-2024</a:t>
            </a:fld>
            <a:endParaRPr lang="en-IN"/>
          </a:p>
        </p:txBody>
      </p:sp>
      <p:sp>
        <p:nvSpPr>
          <p:cNvPr id="6" name="Footer Placeholder 5">
            <a:extLst>
              <a:ext uri="{FF2B5EF4-FFF2-40B4-BE49-F238E27FC236}">
                <a16:creationId xmlns:a16="http://schemas.microsoft.com/office/drawing/2014/main" id="{DB525BBD-E18D-8115-74F6-4FBF73A9CC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146630-BE04-BE69-2FDA-11CBA42ED3B1}"/>
              </a:ext>
            </a:extLst>
          </p:cNvPr>
          <p:cNvSpPr>
            <a:spLocks noGrp="1"/>
          </p:cNvSpPr>
          <p:nvPr>
            <p:ph type="sldNum" sz="quarter" idx="12"/>
          </p:nvPr>
        </p:nvSpPr>
        <p:spPr/>
        <p:txBody>
          <a:bodyPr/>
          <a:lstStyle/>
          <a:p>
            <a:fld id="{6362F90E-0612-42DD-BEDD-CF696D4ADB0E}" type="slidenum">
              <a:rPr lang="en-IN" smtClean="0"/>
              <a:t>‹#›</a:t>
            </a:fld>
            <a:endParaRPr lang="en-IN"/>
          </a:p>
        </p:txBody>
      </p:sp>
    </p:spTree>
    <p:extLst>
      <p:ext uri="{BB962C8B-B14F-4D97-AF65-F5344CB8AC3E}">
        <p14:creationId xmlns:p14="http://schemas.microsoft.com/office/powerpoint/2010/main" val="1483043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5C45D-79D9-8742-9C2D-7A0BEFF93C8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0DEA37D-37D2-97A2-7965-636ED019CB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AA8FAA-8234-7671-D02E-43A3648CD36D}"/>
              </a:ext>
            </a:extLst>
          </p:cNvPr>
          <p:cNvSpPr>
            <a:spLocks noGrp="1"/>
          </p:cNvSpPr>
          <p:nvPr>
            <p:ph type="dt" sz="half" idx="10"/>
          </p:nvPr>
        </p:nvSpPr>
        <p:spPr/>
        <p:txBody>
          <a:bodyPr/>
          <a:lstStyle/>
          <a:p>
            <a:fld id="{38AC1B5A-A6E7-47B5-8E25-40B482FE26BE}" type="datetimeFigureOut">
              <a:rPr lang="en-IN" smtClean="0"/>
              <a:t>05-05-2024</a:t>
            </a:fld>
            <a:endParaRPr lang="en-IN"/>
          </a:p>
        </p:txBody>
      </p:sp>
      <p:sp>
        <p:nvSpPr>
          <p:cNvPr id="5" name="Footer Placeholder 4">
            <a:extLst>
              <a:ext uri="{FF2B5EF4-FFF2-40B4-BE49-F238E27FC236}">
                <a16:creationId xmlns:a16="http://schemas.microsoft.com/office/drawing/2014/main" id="{F0160287-1064-007B-2FF4-7C98E320FC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859299-BAD8-8A92-AE7B-E0326C57123A}"/>
              </a:ext>
            </a:extLst>
          </p:cNvPr>
          <p:cNvSpPr>
            <a:spLocks noGrp="1"/>
          </p:cNvSpPr>
          <p:nvPr>
            <p:ph type="sldNum" sz="quarter" idx="12"/>
          </p:nvPr>
        </p:nvSpPr>
        <p:spPr/>
        <p:txBody>
          <a:bodyPr/>
          <a:lstStyle/>
          <a:p>
            <a:fld id="{6362F90E-0612-42DD-BEDD-CF696D4ADB0E}" type="slidenum">
              <a:rPr lang="en-IN" smtClean="0"/>
              <a:t>‹#›</a:t>
            </a:fld>
            <a:endParaRPr lang="en-IN"/>
          </a:p>
        </p:txBody>
      </p:sp>
    </p:spTree>
    <p:extLst>
      <p:ext uri="{BB962C8B-B14F-4D97-AF65-F5344CB8AC3E}">
        <p14:creationId xmlns:p14="http://schemas.microsoft.com/office/powerpoint/2010/main" val="1583565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A51C76-99A6-8F66-D58A-C1FF57C197D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E4C5A6-3D19-9A82-9CA3-5C0A99ECD1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F7455A-2A6A-532E-5F17-13E0B064A96F}"/>
              </a:ext>
            </a:extLst>
          </p:cNvPr>
          <p:cNvSpPr>
            <a:spLocks noGrp="1"/>
          </p:cNvSpPr>
          <p:nvPr>
            <p:ph type="dt" sz="half" idx="10"/>
          </p:nvPr>
        </p:nvSpPr>
        <p:spPr/>
        <p:txBody>
          <a:bodyPr/>
          <a:lstStyle/>
          <a:p>
            <a:fld id="{38AC1B5A-A6E7-47B5-8E25-40B482FE26BE}" type="datetimeFigureOut">
              <a:rPr lang="en-IN" smtClean="0"/>
              <a:t>05-05-2024</a:t>
            </a:fld>
            <a:endParaRPr lang="en-IN"/>
          </a:p>
        </p:txBody>
      </p:sp>
      <p:sp>
        <p:nvSpPr>
          <p:cNvPr id="5" name="Footer Placeholder 4">
            <a:extLst>
              <a:ext uri="{FF2B5EF4-FFF2-40B4-BE49-F238E27FC236}">
                <a16:creationId xmlns:a16="http://schemas.microsoft.com/office/drawing/2014/main" id="{3E6CAB36-0112-1E50-D2AA-65E057ACD9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32571D-6363-4A25-BAF7-D01E005E82AF}"/>
              </a:ext>
            </a:extLst>
          </p:cNvPr>
          <p:cNvSpPr>
            <a:spLocks noGrp="1"/>
          </p:cNvSpPr>
          <p:nvPr>
            <p:ph type="sldNum" sz="quarter" idx="12"/>
          </p:nvPr>
        </p:nvSpPr>
        <p:spPr/>
        <p:txBody>
          <a:bodyPr/>
          <a:lstStyle/>
          <a:p>
            <a:fld id="{6362F90E-0612-42DD-BEDD-CF696D4ADB0E}" type="slidenum">
              <a:rPr lang="en-IN" smtClean="0"/>
              <a:t>‹#›</a:t>
            </a:fld>
            <a:endParaRPr lang="en-IN"/>
          </a:p>
        </p:txBody>
      </p:sp>
    </p:spTree>
    <p:extLst>
      <p:ext uri="{BB962C8B-B14F-4D97-AF65-F5344CB8AC3E}">
        <p14:creationId xmlns:p14="http://schemas.microsoft.com/office/powerpoint/2010/main" val="2245136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E526FF-F986-06E4-C1B1-8B620188F1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A7B861E-A946-AEAC-A089-B3210AAD40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7E7317-EC36-CDEA-35A0-F560AAA771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AC1B5A-A6E7-47B5-8E25-40B482FE26BE}" type="datetimeFigureOut">
              <a:rPr lang="en-IN" smtClean="0"/>
              <a:t>05-05-2024</a:t>
            </a:fld>
            <a:endParaRPr lang="en-IN"/>
          </a:p>
        </p:txBody>
      </p:sp>
      <p:sp>
        <p:nvSpPr>
          <p:cNvPr id="5" name="Footer Placeholder 4">
            <a:extLst>
              <a:ext uri="{FF2B5EF4-FFF2-40B4-BE49-F238E27FC236}">
                <a16:creationId xmlns:a16="http://schemas.microsoft.com/office/drawing/2014/main" id="{4927D9DF-933F-C0F5-214A-A1AF4804E6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81E1545-E64E-C1E3-66D4-3D0D005767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362F90E-0612-42DD-BEDD-CF696D4ADB0E}" type="slidenum">
              <a:rPr lang="en-IN" smtClean="0"/>
              <a:t>‹#›</a:t>
            </a:fld>
            <a:endParaRPr lang="en-IN"/>
          </a:p>
        </p:txBody>
      </p:sp>
    </p:spTree>
    <p:extLst>
      <p:ext uri="{BB962C8B-B14F-4D97-AF65-F5344CB8AC3E}">
        <p14:creationId xmlns:p14="http://schemas.microsoft.com/office/powerpoint/2010/main" val="1618052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a:extLst>
              <a:ext uri="{FF2B5EF4-FFF2-40B4-BE49-F238E27FC236}">
                <a16:creationId xmlns:a16="http://schemas.microsoft.com/office/drawing/2014/main" id="{362810D9-2C5A-477D-949C-C191895477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Circuit board">
            <a:extLst>
              <a:ext uri="{FF2B5EF4-FFF2-40B4-BE49-F238E27FC236}">
                <a16:creationId xmlns:a16="http://schemas.microsoft.com/office/drawing/2014/main" id="{78316A82-4DB9-217F-D237-5C8AA8276B5C}"/>
              </a:ext>
            </a:extLst>
          </p:cNvPr>
          <p:cNvPicPr>
            <a:picLocks noChangeAspect="1"/>
          </p:cNvPicPr>
          <p:nvPr/>
        </p:nvPicPr>
        <p:blipFill rotWithShape="1">
          <a:blip r:embed="rId2">
            <a:alphaModFix amt="55000"/>
          </a:blip>
          <a:srcRect t="15730"/>
          <a:stretch/>
        </p:blipFill>
        <p:spPr>
          <a:xfrm>
            <a:off x="20" y="-9107"/>
            <a:ext cx="12191980" cy="6858000"/>
          </a:xfrm>
          <a:prstGeom prst="rect">
            <a:avLst/>
          </a:prstGeom>
        </p:spPr>
      </p:pic>
      <p:sp>
        <p:nvSpPr>
          <p:cNvPr id="2" name="Title 1">
            <a:extLst>
              <a:ext uri="{FF2B5EF4-FFF2-40B4-BE49-F238E27FC236}">
                <a16:creationId xmlns:a16="http://schemas.microsoft.com/office/drawing/2014/main" id="{804069A6-61BF-8BC7-9A92-A27C461EEFC9}"/>
              </a:ext>
            </a:extLst>
          </p:cNvPr>
          <p:cNvSpPr>
            <a:spLocks noGrp="1"/>
          </p:cNvSpPr>
          <p:nvPr>
            <p:ph type="title"/>
          </p:nvPr>
        </p:nvSpPr>
        <p:spPr>
          <a:xfrm>
            <a:off x="1434083" y="1464555"/>
            <a:ext cx="9725527" cy="2712295"/>
          </a:xfrm>
        </p:spPr>
        <p:txBody>
          <a:bodyPr vert="horz" lIns="91440" tIns="45720" rIns="91440" bIns="45720" rtlCol="0" anchor="ctr">
            <a:normAutofit/>
          </a:bodyPr>
          <a:lstStyle/>
          <a:p>
            <a:pPr algn="ctr"/>
            <a:r>
              <a:rPr lang="en-US" sz="4100" dirty="0">
                <a:solidFill>
                  <a:srgbClr val="FFFFFF"/>
                </a:solidFill>
                <a:effectLst/>
              </a:rPr>
              <a:t>Energy Optimizations For Memory Architectures</a:t>
            </a:r>
            <a:endParaRPr lang="en-US" sz="4100" dirty="0">
              <a:solidFill>
                <a:srgbClr val="FFFFFF"/>
              </a:solidFill>
            </a:endParaRPr>
          </a:p>
        </p:txBody>
      </p:sp>
      <p:sp>
        <p:nvSpPr>
          <p:cNvPr id="18" name="Arc 1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167D928F-3EB3-6A7C-0B61-8527443D801E}"/>
              </a:ext>
            </a:extLst>
          </p:cNvPr>
          <p:cNvSpPr txBox="1"/>
          <p:nvPr/>
        </p:nvSpPr>
        <p:spPr>
          <a:xfrm>
            <a:off x="2843602" y="3844746"/>
            <a:ext cx="6906491" cy="2131143"/>
          </a:xfrm>
          <a:prstGeom prst="rect">
            <a:avLst/>
          </a:prstGeom>
        </p:spPr>
        <p:txBody>
          <a:bodyPr vert="horz" lIns="91440" tIns="45720" rIns="91440" bIns="45720" rtlCol="0" anchor="ctr">
            <a:normAutofit/>
          </a:bodyPr>
          <a:lstStyle/>
          <a:p>
            <a:pPr algn="ctr">
              <a:lnSpc>
                <a:spcPct val="90000"/>
              </a:lnSpc>
              <a:spcAft>
                <a:spcPts val="600"/>
              </a:spcAft>
            </a:pPr>
            <a:r>
              <a:rPr lang="en-US" dirty="0">
                <a:solidFill>
                  <a:srgbClr val="FFFFFF"/>
                </a:solidFill>
                <a:effectLst/>
              </a:rPr>
              <a:t>Mukesh Sekar</a:t>
            </a:r>
            <a:br>
              <a:rPr lang="en-US" dirty="0">
                <a:solidFill>
                  <a:srgbClr val="FFFFFF"/>
                </a:solidFill>
                <a:effectLst/>
              </a:rPr>
            </a:br>
            <a:r>
              <a:rPr lang="en-US" dirty="0">
                <a:solidFill>
                  <a:srgbClr val="FFFFFF"/>
                </a:solidFill>
                <a:effectLst/>
              </a:rPr>
              <a:t>Electrical and Computer Engineering</a:t>
            </a:r>
            <a:br>
              <a:rPr lang="en-US" dirty="0">
                <a:solidFill>
                  <a:srgbClr val="FFFFFF"/>
                </a:solidFill>
                <a:effectLst/>
              </a:rPr>
            </a:br>
            <a:r>
              <a:rPr lang="en-US" dirty="0">
                <a:solidFill>
                  <a:srgbClr val="FFFFFF"/>
                </a:solidFill>
                <a:effectLst/>
              </a:rPr>
              <a:t>Colorado State University</a:t>
            </a:r>
            <a:br>
              <a:rPr lang="en-US" i="1" dirty="0">
                <a:solidFill>
                  <a:srgbClr val="FFFFFF"/>
                </a:solidFill>
                <a:effectLst/>
              </a:rPr>
            </a:br>
            <a:r>
              <a:rPr lang="en-US" dirty="0">
                <a:solidFill>
                  <a:srgbClr val="FFFFFF"/>
                </a:solidFill>
                <a:effectLst/>
              </a:rPr>
              <a:t>Fort Collins, Colorado</a:t>
            </a:r>
            <a:br>
              <a:rPr lang="en-US" dirty="0">
                <a:solidFill>
                  <a:srgbClr val="FFFFFF"/>
                </a:solidFill>
                <a:effectLst/>
              </a:rPr>
            </a:br>
            <a:r>
              <a:rPr lang="en-US" dirty="0" err="1">
                <a:solidFill>
                  <a:srgbClr val="FFFFFF"/>
                </a:solidFill>
                <a:effectLst/>
              </a:rPr>
              <a:t>msekar</a:t>
            </a:r>
            <a:r>
              <a:rPr lang="en-US" dirty="0">
                <a:solidFill>
                  <a:srgbClr val="FFFFFF"/>
                </a:solidFill>
                <a:effectLst/>
              </a:rPr>
              <a:t>@.colostate.edu</a:t>
            </a:r>
            <a:br>
              <a:rPr lang="en-US" dirty="0">
                <a:solidFill>
                  <a:srgbClr val="FFFFFF"/>
                </a:solidFill>
                <a:effectLst/>
              </a:rPr>
            </a:br>
            <a:endParaRPr lang="en-US" dirty="0">
              <a:solidFill>
                <a:srgbClr val="FFFFFF"/>
              </a:solidFill>
            </a:endParaRPr>
          </a:p>
        </p:txBody>
      </p:sp>
    </p:spTree>
    <p:extLst>
      <p:ext uri="{BB962C8B-B14F-4D97-AF65-F5344CB8AC3E}">
        <p14:creationId xmlns:p14="http://schemas.microsoft.com/office/powerpoint/2010/main" val="38043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A9CF84-CEBA-5F0E-0175-2D73DB5AF63E}"/>
              </a:ext>
            </a:extLst>
          </p:cNvPr>
          <p:cNvSpPr>
            <a:spLocks noGrp="1"/>
          </p:cNvSpPr>
          <p:nvPr>
            <p:ph type="title"/>
          </p:nvPr>
        </p:nvSpPr>
        <p:spPr>
          <a:xfrm>
            <a:off x="793662" y="386930"/>
            <a:ext cx="10066122" cy="1298448"/>
          </a:xfrm>
        </p:spPr>
        <p:txBody>
          <a:bodyPr anchor="b">
            <a:normAutofit/>
          </a:bodyPr>
          <a:lstStyle/>
          <a:p>
            <a:r>
              <a:rPr lang="en-US" sz="4800" b="1" dirty="0"/>
              <a:t>Introduction </a:t>
            </a:r>
            <a:endParaRPr lang="en-IN" sz="4800" b="1" dirty="0"/>
          </a:p>
        </p:txBody>
      </p:sp>
      <p:sp>
        <p:nvSpPr>
          <p:cNvPr id="25" name="Rectangle 2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14D1E87-F967-14C3-FBBE-5AAB8C917FCF}"/>
              </a:ext>
            </a:extLst>
          </p:cNvPr>
          <p:cNvSpPr>
            <a:spLocks noGrp="1"/>
          </p:cNvSpPr>
          <p:nvPr>
            <p:ph idx="1"/>
          </p:nvPr>
        </p:nvSpPr>
        <p:spPr>
          <a:xfrm>
            <a:off x="793661" y="2599509"/>
            <a:ext cx="4530898" cy="3639450"/>
          </a:xfrm>
        </p:spPr>
        <p:txBody>
          <a:bodyPr anchor="ctr">
            <a:normAutofit/>
          </a:bodyPr>
          <a:lstStyle/>
          <a:p>
            <a:pPr marL="0" indent="0" algn="just">
              <a:buNone/>
            </a:pPr>
            <a:r>
              <a:rPr lang="en-US" sz="1600" dirty="0"/>
              <a:t>This slide serves as a foundational framework for our presentation, emphasizing the critical need for energy-efficient computing solutions amidst escalating energy demands. Traditional architectures, prioritizing performance, now confront significant challenges due to the exponential rise in energy consumption. Our survey addresses these challenges head-on, exploring strategies to optimize memory architectures within the realm of energy-efficient computing. By mitigating the relentless growth of data and computational complexity, we aim to pave the way for sustainable computing solutions.</a:t>
            </a:r>
            <a:endParaRPr lang="en-IN" sz="1600" dirty="0"/>
          </a:p>
        </p:txBody>
      </p:sp>
      <p:pic>
        <p:nvPicPr>
          <p:cNvPr id="7" name="Graphic 6" descr="Cloud Computing">
            <a:extLst>
              <a:ext uri="{FF2B5EF4-FFF2-40B4-BE49-F238E27FC236}">
                <a16:creationId xmlns:a16="http://schemas.microsoft.com/office/drawing/2014/main" id="{6FD3D0A0-2581-C7BA-9D97-28955963AF3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9548" y="2484255"/>
            <a:ext cx="3714244" cy="3714244"/>
          </a:xfrm>
          <a:prstGeom prst="rect">
            <a:avLst/>
          </a:prstGeom>
        </p:spPr>
      </p:pic>
      <p:sp>
        <p:nvSpPr>
          <p:cNvPr id="29" name="Rectangle 2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1851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ACF595-0D7B-1479-F56A-A66C813A795F}"/>
              </a:ext>
            </a:extLst>
          </p:cNvPr>
          <p:cNvSpPr>
            <a:spLocks noGrp="1"/>
          </p:cNvSpPr>
          <p:nvPr>
            <p:ph type="title"/>
          </p:nvPr>
        </p:nvSpPr>
        <p:spPr>
          <a:xfrm>
            <a:off x="589560" y="856180"/>
            <a:ext cx="5279408" cy="1128068"/>
          </a:xfrm>
        </p:spPr>
        <p:txBody>
          <a:bodyPr anchor="ctr">
            <a:normAutofit/>
          </a:bodyPr>
          <a:lstStyle/>
          <a:p>
            <a:r>
              <a:rPr lang="en-US" sz="4000" dirty="0"/>
              <a:t>Related Work</a:t>
            </a:r>
            <a:endParaRPr lang="en-IN" sz="4000" dirty="0"/>
          </a:p>
        </p:txBody>
      </p:sp>
      <p:grpSp>
        <p:nvGrpSpPr>
          <p:cNvPr id="34" name="Group 3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35" name="Rectangle 3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0DD9E01-D0EC-14FB-CE29-9C4FA110ACFE}"/>
              </a:ext>
            </a:extLst>
          </p:cNvPr>
          <p:cNvSpPr>
            <a:spLocks noGrp="1"/>
          </p:cNvSpPr>
          <p:nvPr>
            <p:ph idx="1"/>
          </p:nvPr>
        </p:nvSpPr>
        <p:spPr>
          <a:xfrm>
            <a:off x="590719" y="2330505"/>
            <a:ext cx="5278066" cy="3979585"/>
          </a:xfrm>
        </p:spPr>
        <p:txBody>
          <a:bodyPr anchor="ctr">
            <a:normAutofit/>
          </a:bodyPr>
          <a:lstStyle/>
          <a:p>
            <a:r>
              <a:rPr lang="en-US" sz="1100" dirty="0"/>
              <a:t>A comprehensive overview of existing research efforts in energy optimizations for memory architectures. It delves into the challenges and advancements in shared memory models, emphasizing the struggle to integrate them seamlessly with dynamic languages like Python due to inherent limitations. Additionally, it addresses memory subsystem optimization strategies, highlighting the necessity of balancing energy efficiency with performance gains across diverse applications. Furthermore, the concept of hybrid memory architectures combining SRAM and NVM technologies is explored, along with the challenges of effectively leveraging their strengths while mitigating weaknesses. Lastly, the focus shifts to ensuring predictability and performance in real-time embedded systems with NVMs, underscoring the importance of maintaining deterministic behavior while optimizing energy consumption. Overall, this slide offers valuable insights into the existing research landscape and sets the stage for exploring innovative solutions to address these challenges.</a:t>
            </a:r>
          </a:p>
          <a:p>
            <a:endParaRPr lang="en-US" sz="1100" dirty="0"/>
          </a:p>
          <a:p>
            <a:r>
              <a:rPr lang="en-US" sz="1100" dirty="0"/>
              <a:t>By covering these related works and their associated challenges, the audience will gain an understanding of the existing research landscape and the key areas that need to be addressed to achieve energy optimizations for memory architectures.</a:t>
            </a:r>
            <a:endParaRPr lang="en-IN" sz="1100" dirty="0"/>
          </a:p>
        </p:txBody>
      </p:sp>
      <p:sp>
        <p:nvSpPr>
          <p:cNvPr id="40" name="Rectangle 3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memory manager&#10;&#10;Description automatically generated">
            <a:extLst>
              <a:ext uri="{FF2B5EF4-FFF2-40B4-BE49-F238E27FC236}">
                <a16:creationId xmlns:a16="http://schemas.microsoft.com/office/drawing/2014/main" id="{F13957DA-79EF-BC2A-9FDA-FEF480D986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3423" y="604492"/>
            <a:ext cx="4397433" cy="2473556"/>
          </a:xfrm>
          <a:prstGeom prst="rect">
            <a:avLst/>
          </a:prstGeom>
        </p:spPr>
      </p:pic>
      <p:sp>
        <p:nvSpPr>
          <p:cNvPr id="44" name="Rectangle 43">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diagram of a memory structure&#10;&#10;Description automatically generated">
            <a:extLst>
              <a:ext uri="{FF2B5EF4-FFF2-40B4-BE49-F238E27FC236}">
                <a16:creationId xmlns:a16="http://schemas.microsoft.com/office/drawing/2014/main" id="{55E71F3C-FE68-D7E1-C4C5-AB1C337E8B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6022" y="3707894"/>
            <a:ext cx="3650371" cy="2518756"/>
          </a:xfrm>
          <a:prstGeom prst="rect">
            <a:avLst/>
          </a:prstGeom>
        </p:spPr>
      </p:pic>
    </p:spTree>
    <p:extLst>
      <p:ext uri="{BB962C8B-B14F-4D97-AF65-F5344CB8AC3E}">
        <p14:creationId xmlns:p14="http://schemas.microsoft.com/office/powerpoint/2010/main" val="3276499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8015B5E1-2CC8-877B-60B5-5477213E5D42}"/>
              </a:ext>
            </a:extLst>
          </p:cNvPr>
          <p:cNvSpPr>
            <a:spLocks noGrp="1"/>
          </p:cNvSpPr>
          <p:nvPr>
            <p:ph type="title"/>
          </p:nvPr>
        </p:nvSpPr>
        <p:spPr>
          <a:xfrm>
            <a:off x="479394" y="1070800"/>
            <a:ext cx="3939688" cy="5583126"/>
          </a:xfrm>
        </p:spPr>
        <p:txBody>
          <a:bodyPr vert="horz" lIns="91440" tIns="45720" rIns="91440" bIns="45720" rtlCol="0" anchor="ctr">
            <a:normAutofit/>
          </a:bodyPr>
          <a:lstStyle/>
          <a:p>
            <a:pPr algn="r"/>
            <a:r>
              <a:rPr lang="en-US" kern="1200">
                <a:solidFill>
                  <a:schemeClr val="tx1"/>
                </a:solidFill>
                <a:latin typeface="+mj-lt"/>
                <a:ea typeface="+mj-ea"/>
                <a:cs typeface="+mj-cs"/>
              </a:rPr>
              <a:t>Design and implementation </a:t>
            </a:r>
            <a:br>
              <a:rPr lang="en-US" kern="1200">
                <a:solidFill>
                  <a:schemeClr val="tx1"/>
                </a:solidFill>
                <a:latin typeface="+mj-lt"/>
                <a:ea typeface="+mj-ea"/>
                <a:cs typeface="+mj-cs"/>
              </a:rPr>
            </a:br>
            <a:endParaRPr lang="en-US" kern="1200">
              <a:solidFill>
                <a:schemeClr val="tx1"/>
              </a:solidFill>
              <a:latin typeface="+mj-lt"/>
              <a:ea typeface="+mj-ea"/>
              <a:cs typeface="+mj-cs"/>
            </a:endParaRPr>
          </a:p>
        </p:txBody>
      </p:sp>
      <p:cxnSp>
        <p:nvCxnSpPr>
          <p:cNvPr id="23" name="Straight Connector 2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0507B833-DA7C-7003-B664-CF76C3EDBAED}"/>
              </a:ext>
            </a:extLst>
          </p:cNvPr>
          <p:cNvSpPr>
            <a:spLocks/>
          </p:cNvSpPr>
          <p:nvPr/>
        </p:nvSpPr>
        <p:spPr>
          <a:xfrm>
            <a:off x="5016055" y="1646262"/>
            <a:ext cx="3467824" cy="1702918"/>
          </a:xfrm>
          <a:prstGeom prst="rect">
            <a:avLst/>
          </a:prstGeom>
        </p:spPr>
        <p:txBody>
          <a:bodyPr>
            <a:noAutofit/>
          </a:bodyPr>
          <a:lstStyle/>
          <a:p>
            <a:pPr algn="ctr" defTabSz="502920">
              <a:lnSpc>
                <a:spcPct val="90000"/>
              </a:lnSpc>
              <a:spcAft>
                <a:spcPts val="600"/>
              </a:spcAft>
            </a:pPr>
            <a:r>
              <a:rPr lang="en-US" sz="1000" dirty="0"/>
              <a:t>A</a:t>
            </a:r>
            <a:r>
              <a:rPr lang="en-US" sz="1000" kern="1200" dirty="0">
                <a:solidFill>
                  <a:schemeClr val="tx1"/>
                </a:solidFill>
                <a:latin typeface="+mn-lt"/>
                <a:ea typeface="+mn-ea"/>
                <a:cs typeface="+mn-cs"/>
              </a:rPr>
              <a:t> diverse array of approaches aimed at optimizing memory architectures for enhanced energy efficiency. It highlights the innovative concept of a software-based distributed memory management system, showcasing its departure from traditional structural designs by leveraging software parameters for more effective management of distributed shared address spaces. This approach offers increased flexibility and adaptability, allowing real-time adjustments tailored to specific applications and system configurations. Furthermore, the integration of a sequential consistency mechanism ensures coherent access across processes, thereby mitigating potential errors and improving overall system reliability. </a:t>
            </a:r>
            <a:endParaRPr lang="en-IN" sz="1000" b="0" dirty="0"/>
          </a:p>
        </p:txBody>
      </p:sp>
      <p:pic>
        <p:nvPicPr>
          <p:cNvPr id="10" name="Content Placeholder 9" descr="A diagram of a computer&#10;&#10;Description automatically generated">
            <a:extLst>
              <a:ext uri="{FF2B5EF4-FFF2-40B4-BE49-F238E27FC236}">
                <a16:creationId xmlns:a16="http://schemas.microsoft.com/office/drawing/2014/main" id="{EB6EB8E9-EB5C-E1C3-0F35-437DF2ADEE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8956" y="341415"/>
            <a:ext cx="2998171" cy="1251411"/>
          </a:xfrm>
          <a:prstGeom prst="rect">
            <a:avLst/>
          </a:prstGeom>
        </p:spPr>
      </p:pic>
      <p:sp>
        <p:nvSpPr>
          <p:cNvPr id="5" name="Text Placeholder 4">
            <a:extLst>
              <a:ext uri="{FF2B5EF4-FFF2-40B4-BE49-F238E27FC236}">
                <a16:creationId xmlns:a16="http://schemas.microsoft.com/office/drawing/2014/main" id="{91127F52-0B23-2891-408B-80F94CD9CCA2}"/>
              </a:ext>
            </a:extLst>
          </p:cNvPr>
          <p:cNvSpPr>
            <a:spLocks/>
          </p:cNvSpPr>
          <p:nvPr/>
        </p:nvSpPr>
        <p:spPr>
          <a:xfrm>
            <a:off x="8771880" y="3303469"/>
            <a:ext cx="3540972" cy="1975889"/>
          </a:xfrm>
          <a:prstGeom prst="rect">
            <a:avLst/>
          </a:prstGeom>
        </p:spPr>
        <p:txBody>
          <a:bodyPr>
            <a:normAutofit/>
          </a:bodyPr>
          <a:lstStyle/>
          <a:p>
            <a:pPr algn="ctr" defTabSz="502920">
              <a:lnSpc>
                <a:spcPct val="90000"/>
              </a:lnSpc>
              <a:spcAft>
                <a:spcPts val="600"/>
              </a:spcAft>
            </a:pPr>
            <a:r>
              <a:rPr lang="en-US" sz="1050" kern="1200" dirty="0">
                <a:solidFill>
                  <a:schemeClr val="tx1"/>
                </a:solidFill>
                <a:latin typeface="+mn-lt"/>
                <a:ea typeface="+mn-ea"/>
                <a:cs typeface="+mn-cs"/>
              </a:rPr>
              <a:t>This slide delves into the co-optimization of device engineering and architecture design for RRAM-based In-Memory Computing (IMC) systems, focusing on addressing non-ideal behaviors in RRAM devices such as random telegraph noise (RTN) and retention degradation (RD). The proposed architectures, such as the Lattice architecture and </a:t>
            </a:r>
            <a:r>
              <a:rPr lang="en-US" sz="1050" kern="1200" dirty="0" err="1">
                <a:solidFill>
                  <a:schemeClr val="tx1"/>
                </a:solidFill>
                <a:latin typeface="+mn-lt"/>
                <a:ea typeface="+mn-ea"/>
                <a:cs typeface="+mn-cs"/>
              </a:rPr>
              <a:t>MobiLattice</a:t>
            </a:r>
            <a:r>
              <a:rPr lang="en-US" sz="1050" kern="1200" dirty="0">
                <a:solidFill>
                  <a:schemeClr val="tx1"/>
                </a:solidFill>
                <a:latin typeface="+mn-lt"/>
                <a:ea typeface="+mn-ea"/>
                <a:cs typeface="+mn-cs"/>
              </a:rPr>
              <a:t> block, aim to enhance efficiency and performance in RRAM-based IMC systems. Furthermore, the development of simulation frameworks like </a:t>
            </a:r>
            <a:r>
              <a:rPr lang="en-US" sz="1050" kern="1200" dirty="0" err="1">
                <a:solidFill>
                  <a:schemeClr val="tx1"/>
                </a:solidFill>
                <a:latin typeface="+mn-lt"/>
                <a:ea typeface="+mn-ea"/>
                <a:cs typeface="+mn-cs"/>
              </a:rPr>
              <a:t>PIMulator</a:t>
            </a:r>
            <a:r>
              <a:rPr lang="en-US" sz="1050" kern="1200" dirty="0">
                <a:solidFill>
                  <a:schemeClr val="tx1"/>
                </a:solidFill>
                <a:latin typeface="+mn-lt"/>
                <a:ea typeface="+mn-ea"/>
                <a:cs typeface="+mn-cs"/>
              </a:rPr>
              <a:t>-NN facilitates architectural modeling and optimization, contributing to advancements in RRAM-based IMC systems.</a:t>
            </a:r>
            <a:endParaRPr lang="en-IN" sz="1050" b="0" dirty="0"/>
          </a:p>
        </p:txBody>
      </p:sp>
      <p:pic>
        <p:nvPicPr>
          <p:cNvPr id="12" name="Content Placeholder 11" descr="A diagram of a computer network&#10;&#10;Description automatically generated">
            <a:extLst>
              <a:ext uri="{FF2B5EF4-FFF2-40B4-BE49-F238E27FC236}">
                <a16:creationId xmlns:a16="http://schemas.microsoft.com/office/drawing/2014/main" id="{9C9B1A51-87C5-DE7E-2626-882A77A914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2979" y="1132114"/>
            <a:ext cx="2189627" cy="1874224"/>
          </a:xfrm>
          <a:prstGeom prst="rect">
            <a:avLst/>
          </a:prstGeom>
        </p:spPr>
      </p:pic>
      <p:pic>
        <p:nvPicPr>
          <p:cNvPr id="14" name="Picture 13" descr="A diagram of energy consumption&#10;&#10;Description automatically generated">
            <a:extLst>
              <a:ext uri="{FF2B5EF4-FFF2-40B4-BE49-F238E27FC236}">
                <a16:creationId xmlns:a16="http://schemas.microsoft.com/office/drawing/2014/main" id="{47BE0362-9D66-840A-5D04-762B16D6B2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98008" y="3793537"/>
            <a:ext cx="3059047" cy="1713067"/>
          </a:xfrm>
          <a:prstGeom prst="rect">
            <a:avLst/>
          </a:prstGeom>
        </p:spPr>
      </p:pic>
      <p:sp>
        <p:nvSpPr>
          <p:cNvPr id="16" name="TextBox 15">
            <a:extLst>
              <a:ext uri="{FF2B5EF4-FFF2-40B4-BE49-F238E27FC236}">
                <a16:creationId xmlns:a16="http://schemas.microsoft.com/office/drawing/2014/main" id="{E71305C0-6955-BDED-5B5E-CEC6E8755EE6}"/>
              </a:ext>
            </a:extLst>
          </p:cNvPr>
          <p:cNvSpPr txBox="1"/>
          <p:nvPr/>
        </p:nvSpPr>
        <p:spPr>
          <a:xfrm>
            <a:off x="5108534" y="5387064"/>
            <a:ext cx="4114121" cy="1384995"/>
          </a:xfrm>
          <a:prstGeom prst="rect">
            <a:avLst/>
          </a:prstGeom>
          <a:noFill/>
        </p:spPr>
        <p:txBody>
          <a:bodyPr wrap="square">
            <a:spAutoFit/>
          </a:bodyPr>
          <a:lstStyle/>
          <a:p>
            <a:pPr algn="ctr" defTabSz="502920">
              <a:spcAft>
                <a:spcPts val="600"/>
              </a:spcAft>
            </a:pPr>
            <a:r>
              <a:rPr lang="en-IN" sz="1050" kern="1200" dirty="0">
                <a:solidFill>
                  <a:schemeClr val="tx1"/>
                </a:solidFill>
                <a:latin typeface="+mn-lt"/>
                <a:ea typeface="+mn-ea"/>
                <a:cs typeface="+mn-cs"/>
              </a:rPr>
              <a:t>cache optimization using TECH-DoE, a mechanism employing Design of Experiments (DoE) techniques to systematically tune two-level cache memory hierarchies. By iteratively adjusting cache parameters based on their influence, TECH-DoE minimizes energy consumption while preserving performance. Implementation using tools like </a:t>
            </a:r>
            <a:r>
              <a:rPr lang="en-IN" sz="1050" kern="1200" dirty="0" err="1">
                <a:solidFill>
                  <a:schemeClr val="tx1"/>
                </a:solidFill>
                <a:latin typeface="+mn-lt"/>
                <a:ea typeface="+mn-ea"/>
                <a:cs typeface="+mn-cs"/>
              </a:rPr>
              <a:t>SimpleScalar</a:t>
            </a:r>
            <a:r>
              <a:rPr lang="en-IN" sz="1050" kern="1200" dirty="0">
                <a:solidFill>
                  <a:schemeClr val="tx1"/>
                </a:solidFill>
                <a:latin typeface="+mn-lt"/>
                <a:ea typeface="+mn-ea"/>
                <a:cs typeface="+mn-cs"/>
              </a:rPr>
              <a:t> and </a:t>
            </a:r>
            <a:r>
              <a:rPr lang="en-IN" sz="1050" kern="1200" dirty="0" err="1">
                <a:solidFill>
                  <a:schemeClr val="tx1"/>
                </a:solidFill>
                <a:latin typeface="+mn-lt"/>
                <a:ea typeface="+mn-ea"/>
                <a:cs typeface="+mn-cs"/>
              </a:rPr>
              <a:t>eCACTI</a:t>
            </a:r>
            <a:r>
              <a:rPr lang="en-IN" sz="1050" kern="1200" dirty="0">
                <a:solidFill>
                  <a:schemeClr val="tx1"/>
                </a:solidFill>
                <a:latin typeface="+mn-lt"/>
                <a:ea typeface="+mn-ea"/>
                <a:cs typeface="+mn-cs"/>
              </a:rPr>
              <a:t> enables efficient exploration and evaluation of cache configurations, ultimately leading to optimized memory architectures.</a:t>
            </a:r>
            <a:endParaRPr lang="en-IN" sz="1050" dirty="0"/>
          </a:p>
        </p:txBody>
      </p:sp>
    </p:spTree>
    <p:extLst>
      <p:ext uri="{BB962C8B-B14F-4D97-AF65-F5344CB8AC3E}">
        <p14:creationId xmlns:p14="http://schemas.microsoft.com/office/powerpoint/2010/main" val="378203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7F1AF47-AE98-4034-BD91-1976FA4D9C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8EC0EE2B-2029-48DD-893D-F528E651B0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7200" y="8482"/>
            <a:ext cx="3568276" cy="6858000"/>
          </a:xfrm>
          <a:prstGeom prst="rect">
            <a:avLst/>
          </a:prstGeom>
          <a:gradFill>
            <a:gsLst>
              <a:gs pos="0">
                <a:schemeClr val="accent1">
                  <a:alpha val="32000"/>
                </a:schemeClr>
              </a:gs>
              <a:gs pos="70000">
                <a:srgbClr val="000000">
                  <a:alpha val="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45AE1D08-1ED1-4F59-B42F-4D8EA33DC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9A79B912-88EA-4640-BDEB-51B3B11A02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24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78D3A8-E910-DA8A-5CB4-BE8175B1D410}"/>
              </a:ext>
            </a:extLst>
          </p:cNvPr>
          <p:cNvSpPr>
            <a:spLocks noGrp="1"/>
          </p:cNvSpPr>
          <p:nvPr>
            <p:ph type="ctrTitle"/>
          </p:nvPr>
        </p:nvSpPr>
        <p:spPr>
          <a:xfrm>
            <a:off x="155463" y="425255"/>
            <a:ext cx="3806513" cy="5771535"/>
          </a:xfrm>
        </p:spPr>
        <p:txBody>
          <a:bodyPr anchor="t">
            <a:normAutofit/>
          </a:bodyPr>
          <a:lstStyle/>
          <a:p>
            <a:r>
              <a:rPr lang="en-US" sz="2500" dirty="0">
                <a:solidFill>
                  <a:srgbClr val="FFFFFF"/>
                </a:solidFill>
                <a:latin typeface="Alasassy Caps" panose="020F0502020204030204" pitchFamily="2" charset="0"/>
              </a:rPr>
              <a:t>This  slide focuses on a pivotal scheme designed to optimize job scheduling efficiency within High-Performance Computing (HPC) systems.</a:t>
            </a:r>
            <a:endParaRPr lang="en-IN" sz="2500" dirty="0">
              <a:solidFill>
                <a:srgbClr val="FFFFFF"/>
              </a:solidFill>
              <a:latin typeface="Alasassy Caps" panose="020F0502020204030204" pitchFamily="2" charset="0"/>
            </a:endParaRPr>
          </a:p>
        </p:txBody>
      </p:sp>
      <p:pic>
        <p:nvPicPr>
          <p:cNvPr id="5" name="Picture 4" descr="A diagram of a process&#10;&#10;Description automatically generated">
            <a:extLst>
              <a:ext uri="{FF2B5EF4-FFF2-40B4-BE49-F238E27FC236}">
                <a16:creationId xmlns:a16="http://schemas.microsoft.com/office/drawing/2014/main" id="{8DF53ACB-2FF0-F8F8-4BB3-38163C8A99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5371" y="479210"/>
            <a:ext cx="1651262" cy="1399445"/>
          </a:xfrm>
          <a:prstGeom prst="rect">
            <a:avLst/>
          </a:prstGeom>
        </p:spPr>
      </p:pic>
      <p:pic>
        <p:nvPicPr>
          <p:cNvPr id="7" name="Picture 6" descr="A graph of different sizes and sizes of a set of objects&#10;&#10;Description automatically generated with medium confidence">
            <a:extLst>
              <a:ext uri="{FF2B5EF4-FFF2-40B4-BE49-F238E27FC236}">
                <a16:creationId xmlns:a16="http://schemas.microsoft.com/office/drawing/2014/main" id="{CFD2D21A-5191-DDF0-99C1-FD8BBFA1DD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77095" y="293073"/>
            <a:ext cx="2864431" cy="1754326"/>
          </a:xfrm>
          <a:prstGeom prst="rect">
            <a:avLst/>
          </a:prstGeom>
        </p:spPr>
      </p:pic>
      <p:pic>
        <p:nvPicPr>
          <p:cNvPr id="9" name="Picture 8" descr="A diagram of a diagram&#10;&#10;Description automatically generated with medium confidence">
            <a:extLst>
              <a:ext uri="{FF2B5EF4-FFF2-40B4-BE49-F238E27FC236}">
                <a16:creationId xmlns:a16="http://schemas.microsoft.com/office/drawing/2014/main" id="{7ADCA8B3-30CB-6A9F-93B6-F52258430B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84575" y="4186154"/>
            <a:ext cx="3665301" cy="1346997"/>
          </a:xfrm>
          <a:prstGeom prst="rect">
            <a:avLst/>
          </a:prstGeom>
        </p:spPr>
      </p:pic>
      <p:sp>
        <p:nvSpPr>
          <p:cNvPr id="11" name="TextBox 10">
            <a:extLst>
              <a:ext uri="{FF2B5EF4-FFF2-40B4-BE49-F238E27FC236}">
                <a16:creationId xmlns:a16="http://schemas.microsoft.com/office/drawing/2014/main" id="{7658036D-7F01-AFC3-DAAD-3142EC8C6AB6}"/>
              </a:ext>
            </a:extLst>
          </p:cNvPr>
          <p:cNvSpPr txBox="1"/>
          <p:nvPr/>
        </p:nvSpPr>
        <p:spPr>
          <a:xfrm>
            <a:off x="5119920" y="5636475"/>
            <a:ext cx="6096000" cy="707886"/>
          </a:xfrm>
          <a:prstGeom prst="rect">
            <a:avLst/>
          </a:prstGeom>
          <a:noFill/>
        </p:spPr>
        <p:txBody>
          <a:bodyPr wrap="square">
            <a:spAutoFit/>
          </a:bodyPr>
          <a:lstStyle/>
          <a:p>
            <a:pPr algn="ctr"/>
            <a:r>
              <a:rPr lang="en-IN" sz="1000" dirty="0"/>
              <a:t>Backfilling Approach for Job Scheduling: The slide introduces the concept of backfilling, a strategy where shorter jobs are permitted to execute before longer ones without significantly delaying the latter. This approach enhances overall system throughput while improving resource utilization and reducing potential wastage, crucial factors in HPC environments characterized by high demands for computational resources.</a:t>
            </a:r>
          </a:p>
        </p:txBody>
      </p:sp>
      <p:sp>
        <p:nvSpPr>
          <p:cNvPr id="13" name="TextBox 12">
            <a:extLst>
              <a:ext uri="{FF2B5EF4-FFF2-40B4-BE49-F238E27FC236}">
                <a16:creationId xmlns:a16="http://schemas.microsoft.com/office/drawing/2014/main" id="{F3EDA88A-27BB-C7B7-ECB7-77AE751369CB}"/>
              </a:ext>
            </a:extLst>
          </p:cNvPr>
          <p:cNvSpPr txBox="1"/>
          <p:nvPr/>
        </p:nvSpPr>
        <p:spPr>
          <a:xfrm>
            <a:off x="8417226" y="2087611"/>
            <a:ext cx="3781337" cy="1223412"/>
          </a:xfrm>
          <a:prstGeom prst="rect">
            <a:avLst/>
          </a:prstGeom>
          <a:noFill/>
        </p:spPr>
        <p:txBody>
          <a:bodyPr wrap="square">
            <a:spAutoFit/>
          </a:bodyPr>
          <a:lstStyle/>
          <a:p>
            <a:pPr algn="ctr"/>
            <a:r>
              <a:rPr lang="en-IN" sz="1050" dirty="0"/>
              <a:t>Delay Threshold Determination: It discusses the innovative aspect of Deviation Backfilling in determining the delay threshold for the first job in the queue. This determination relies on the deviation between user-provided runtime estimates and system-predicted runtimes. The slide highlights the dynamic and adaptive nature of this threshold mechanism, crucial for making judicious scheduling decisions in real-time.</a:t>
            </a:r>
          </a:p>
        </p:txBody>
      </p:sp>
      <p:sp>
        <p:nvSpPr>
          <p:cNvPr id="17" name="TextBox 16">
            <a:extLst>
              <a:ext uri="{FF2B5EF4-FFF2-40B4-BE49-F238E27FC236}">
                <a16:creationId xmlns:a16="http://schemas.microsoft.com/office/drawing/2014/main" id="{BBA7CD14-A17E-E6FD-DC18-654E33344AFA}"/>
              </a:ext>
            </a:extLst>
          </p:cNvPr>
          <p:cNvSpPr txBox="1"/>
          <p:nvPr/>
        </p:nvSpPr>
        <p:spPr>
          <a:xfrm>
            <a:off x="4450016" y="1959172"/>
            <a:ext cx="3861973" cy="1708160"/>
          </a:xfrm>
          <a:prstGeom prst="rect">
            <a:avLst/>
          </a:prstGeom>
          <a:noFill/>
        </p:spPr>
        <p:txBody>
          <a:bodyPr wrap="square">
            <a:spAutoFit/>
          </a:bodyPr>
          <a:lstStyle/>
          <a:p>
            <a:pPr algn="ctr"/>
            <a:r>
              <a:rPr lang="en-IN" sz="1050" dirty="0" err="1"/>
              <a:t>kNN</a:t>
            </a:r>
            <a:r>
              <a:rPr lang="en-IN" sz="1050" dirty="0"/>
              <a:t>-based Runtime Prediction Method: The incorporation of a </a:t>
            </a:r>
            <a:r>
              <a:rPr lang="en-IN" sz="1050" dirty="0" err="1"/>
              <a:t>kNN</a:t>
            </a:r>
            <a:r>
              <a:rPr lang="en-IN" sz="1050" dirty="0"/>
              <a:t>-based runtime prediction method is introduced, leveraging historical data to forecast the execution time of submitted jobs accurately. By comparing predicted runtimes with user-provided estimates, the scheme calculates the deviation used as the delay threshold. Detailed algorithms provided in the paper offer insights into calculating the delay threshold, identifying </a:t>
            </a:r>
            <a:r>
              <a:rPr lang="en-IN" sz="1050" dirty="0" err="1"/>
              <a:t>backfillable</a:t>
            </a:r>
            <a:r>
              <a:rPr lang="en-IN" sz="1050" dirty="0"/>
              <a:t> jobs, and predicting job runtimes, essential for implementing this scheme effectively in HPC systems.</a:t>
            </a:r>
          </a:p>
        </p:txBody>
      </p:sp>
    </p:spTree>
    <p:extLst>
      <p:ext uri="{BB962C8B-B14F-4D97-AF65-F5344CB8AC3E}">
        <p14:creationId xmlns:p14="http://schemas.microsoft.com/office/powerpoint/2010/main" val="3777958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Box 4">
            <a:extLst>
              <a:ext uri="{FF2B5EF4-FFF2-40B4-BE49-F238E27FC236}">
                <a16:creationId xmlns:a16="http://schemas.microsoft.com/office/drawing/2014/main" id="{723EA5CB-9AD0-146B-7BEE-C959D5FD67F5}"/>
              </a:ext>
            </a:extLst>
          </p:cNvPr>
          <p:cNvSpPr txBox="1"/>
          <p:nvPr/>
        </p:nvSpPr>
        <p:spPr>
          <a:xfrm>
            <a:off x="164920" y="2329987"/>
            <a:ext cx="4159044" cy="3908586"/>
          </a:xfrm>
          <a:prstGeom prst="rect">
            <a:avLst/>
          </a:prstGeom>
        </p:spPr>
        <p:txBody>
          <a:bodyPr vert="horz" lIns="91440" tIns="45720" rIns="91440" bIns="45720" rtlCol="0">
            <a:normAutofit/>
          </a:bodyPr>
          <a:lstStyle/>
          <a:p>
            <a:pPr>
              <a:lnSpc>
                <a:spcPct val="90000"/>
              </a:lnSpc>
              <a:spcAft>
                <a:spcPts val="600"/>
              </a:spcAft>
            </a:pPr>
            <a:r>
              <a:rPr lang="en-US" sz="2000" b="1" dirty="0"/>
              <a:t>Groundbreaking methodology</a:t>
            </a:r>
          </a:p>
          <a:p>
            <a:pPr indent="-228600">
              <a:lnSpc>
                <a:spcPct val="90000"/>
              </a:lnSpc>
              <a:spcAft>
                <a:spcPts val="600"/>
              </a:spcAft>
              <a:buFont typeface="Arial" panose="020B0604020202020204" pitchFamily="34" charset="0"/>
              <a:buChar char="•"/>
            </a:pPr>
            <a:r>
              <a:rPr lang="en-US" sz="1400" dirty="0"/>
              <a:t>Extends Python's capabilities</a:t>
            </a:r>
          </a:p>
          <a:p>
            <a:pPr indent="-228600">
              <a:lnSpc>
                <a:spcPct val="90000"/>
              </a:lnSpc>
              <a:spcAft>
                <a:spcPts val="600"/>
              </a:spcAft>
              <a:buFont typeface="Arial" panose="020B0604020202020204" pitchFamily="34" charset="0"/>
              <a:buChar char="•"/>
            </a:pPr>
            <a:r>
              <a:rPr lang="en-US" sz="1400" dirty="0"/>
              <a:t>Enables system-wide shared memory</a:t>
            </a:r>
          </a:p>
          <a:p>
            <a:pPr indent="-228600">
              <a:lnSpc>
                <a:spcPct val="90000"/>
              </a:lnSpc>
              <a:spcAft>
                <a:spcPts val="600"/>
              </a:spcAft>
              <a:buFont typeface="Arial" panose="020B0604020202020204" pitchFamily="34" charset="0"/>
              <a:buChar char="•"/>
            </a:pPr>
            <a:r>
              <a:rPr lang="en-US" sz="1400" dirty="0"/>
              <a:t>Integrates with </a:t>
            </a:r>
            <a:r>
              <a:rPr lang="en-US" sz="1400" dirty="0" err="1"/>
              <a:t>PyCOMPSs</a:t>
            </a:r>
            <a:r>
              <a:rPr lang="en-US" sz="1400" dirty="0"/>
              <a:t> programming model</a:t>
            </a:r>
          </a:p>
        </p:txBody>
      </p:sp>
      <p:sp>
        <p:nvSpPr>
          <p:cNvPr id="7" name="TextBox 6">
            <a:extLst>
              <a:ext uri="{FF2B5EF4-FFF2-40B4-BE49-F238E27FC236}">
                <a16:creationId xmlns:a16="http://schemas.microsoft.com/office/drawing/2014/main" id="{FFA02242-29C0-D84A-83EB-D5E1656BA452}"/>
              </a:ext>
            </a:extLst>
          </p:cNvPr>
          <p:cNvSpPr txBox="1"/>
          <p:nvPr/>
        </p:nvSpPr>
        <p:spPr>
          <a:xfrm>
            <a:off x="5243319" y="722880"/>
            <a:ext cx="3224121" cy="1106393"/>
          </a:xfrm>
          <a:prstGeom prst="rect">
            <a:avLst/>
          </a:prstGeom>
          <a:noFill/>
        </p:spPr>
        <p:txBody>
          <a:bodyPr wrap="square">
            <a:spAutoFit/>
          </a:bodyPr>
          <a:lstStyle/>
          <a:p>
            <a:pPr defTabSz="466344">
              <a:spcAft>
                <a:spcPts val="600"/>
              </a:spcAft>
            </a:pPr>
            <a:r>
              <a:rPr lang="en-US" sz="918" b="1" kern="1200" dirty="0">
                <a:solidFill>
                  <a:schemeClr val="tx1"/>
                </a:solidFill>
                <a:latin typeface="+mn-lt"/>
                <a:ea typeface="+mn-ea"/>
                <a:cs typeface="+mn-cs"/>
              </a:rPr>
              <a:t>Extending </a:t>
            </a:r>
            <a:r>
              <a:rPr lang="en-US" sz="918" b="1" kern="1200" dirty="0" err="1">
                <a:solidFill>
                  <a:schemeClr val="tx1"/>
                </a:solidFill>
                <a:latin typeface="+mn-lt"/>
                <a:ea typeface="+mn-ea"/>
                <a:cs typeface="+mn-cs"/>
              </a:rPr>
              <a:t>SharedArray</a:t>
            </a:r>
            <a:r>
              <a:rPr lang="en-US" sz="918" b="1" kern="1200" dirty="0">
                <a:solidFill>
                  <a:schemeClr val="tx1"/>
                </a:solidFill>
                <a:latin typeface="+mn-lt"/>
                <a:ea typeface="+mn-ea"/>
                <a:cs typeface="+mn-cs"/>
              </a:rPr>
              <a:t> Library </a:t>
            </a:r>
          </a:p>
          <a:p>
            <a:pPr marL="378905" lvl="1" indent="-145733" defTabSz="466344">
              <a:spcAft>
                <a:spcPts val="600"/>
              </a:spcAft>
              <a:buFont typeface="Arial" panose="020B0604020202020204" pitchFamily="34" charset="0"/>
              <a:buChar char="•"/>
            </a:pPr>
            <a:r>
              <a:rPr lang="en-US" sz="918" kern="1200" dirty="0">
                <a:solidFill>
                  <a:schemeClr val="tx1"/>
                </a:solidFill>
                <a:latin typeface="+mn-lt"/>
                <a:ea typeface="+mn-ea"/>
                <a:cs typeface="+mn-cs"/>
              </a:rPr>
              <a:t>Create NumPy arrays backed by shared memory</a:t>
            </a:r>
          </a:p>
          <a:p>
            <a:pPr marL="378905" lvl="1" indent="-145733" defTabSz="466344">
              <a:spcAft>
                <a:spcPts val="600"/>
              </a:spcAft>
              <a:buFont typeface="Arial" panose="020B0604020202020204" pitchFamily="34" charset="0"/>
              <a:buChar char="•"/>
            </a:pPr>
            <a:r>
              <a:rPr lang="en-US" sz="918" kern="1200" dirty="0">
                <a:solidFill>
                  <a:schemeClr val="tx1"/>
                </a:solidFill>
                <a:latin typeface="+mn-lt"/>
                <a:ea typeface="+mn-ea"/>
                <a:cs typeface="+mn-cs"/>
              </a:rPr>
              <a:t>Enables shared NumPy array creation</a:t>
            </a:r>
          </a:p>
          <a:p>
            <a:pPr marL="378905" lvl="1" indent="-145733" defTabSz="466344">
              <a:spcAft>
                <a:spcPts val="600"/>
              </a:spcAft>
              <a:buFont typeface="Arial" panose="020B0604020202020204" pitchFamily="34" charset="0"/>
              <a:buChar char="•"/>
            </a:pPr>
            <a:r>
              <a:rPr lang="en-US" sz="918" kern="1200" dirty="0">
                <a:solidFill>
                  <a:schemeClr val="tx1"/>
                </a:solidFill>
                <a:latin typeface="+mn-lt"/>
                <a:ea typeface="+mn-ea"/>
                <a:cs typeface="+mn-cs"/>
              </a:rPr>
              <a:t>Facilitates efficient data reuse across processes</a:t>
            </a:r>
          </a:p>
          <a:p>
            <a:pPr marL="378905" lvl="1" indent="-145733" defTabSz="466344">
              <a:spcAft>
                <a:spcPts val="600"/>
              </a:spcAft>
              <a:buFont typeface="Arial" panose="020B0604020202020204" pitchFamily="34" charset="0"/>
              <a:buChar char="•"/>
            </a:pPr>
            <a:r>
              <a:rPr lang="en-US" sz="918" kern="1200" dirty="0">
                <a:solidFill>
                  <a:schemeClr val="tx1"/>
                </a:solidFill>
                <a:latin typeface="+mn-lt"/>
                <a:ea typeface="+mn-ea"/>
                <a:cs typeface="+mn-cs"/>
              </a:rPr>
              <a:t>Mitigates serialization/deserialization overhead</a:t>
            </a:r>
            <a:endParaRPr lang="en-US" dirty="0"/>
          </a:p>
        </p:txBody>
      </p:sp>
      <p:sp>
        <p:nvSpPr>
          <p:cNvPr id="11" name="TextBox 10">
            <a:extLst>
              <a:ext uri="{FF2B5EF4-FFF2-40B4-BE49-F238E27FC236}">
                <a16:creationId xmlns:a16="http://schemas.microsoft.com/office/drawing/2014/main" id="{429870AF-3FEC-C33C-5E41-8FE5BFF013CF}"/>
              </a:ext>
            </a:extLst>
          </p:cNvPr>
          <p:cNvSpPr txBox="1"/>
          <p:nvPr/>
        </p:nvSpPr>
        <p:spPr>
          <a:xfrm>
            <a:off x="8763141" y="722880"/>
            <a:ext cx="3133158" cy="1607107"/>
          </a:xfrm>
          <a:prstGeom prst="rect">
            <a:avLst/>
          </a:prstGeom>
          <a:noFill/>
        </p:spPr>
        <p:txBody>
          <a:bodyPr wrap="square">
            <a:spAutoFit/>
          </a:bodyPr>
          <a:lstStyle/>
          <a:p>
            <a:pPr defTabSz="466344">
              <a:spcAft>
                <a:spcPts val="600"/>
              </a:spcAft>
            </a:pPr>
            <a:r>
              <a:rPr lang="en-US" sz="918" b="1" kern="1200" dirty="0">
                <a:solidFill>
                  <a:schemeClr val="tx1"/>
                </a:solidFill>
                <a:latin typeface="+mn-lt"/>
                <a:ea typeface="+mn-ea"/>
                <a:cs typeface="+mn-cs"/>
              </a:rPr>
              <a:t>Integration with </a:t>
            </a:r>
            <a:r>
              <a:rPr lang="en-US" sz="918" b="1" kern="1200" dirty="0" err="1">
                <a:solidFill>
                  <a:schemeClr val="tx1"/>
                </a:solidFill>
                <a:latin typeface="+mn-lt"/>
                <a:ea typeface="+mn-ea"/>
                <a:cs typeface="+mn-cs"/>
              </a:rPr>
              <a:t>PyCOMPSs</a:t>
            </a:r>
            <a:r>
              <a:rPr lang="en-US" sz="918" b="1" kern="1200" dirty="0">
                <a:solidFill>
                  <a:schemeClr val="tx1"/>
                </a:solidFill>
                <a:latin typeface="+mn-lt"/>
                <a:ea typeface="+mn-ea"/>
                <a:cs typeface="+mn-cs"/>
              </a:rPr>
              <a:t>  </a:t>
            </a:r>
          </a:p>
          <a:p>
            <a:pPr marL="378905" lvl="1" indent="-145733" defTabSz="466344">
              <a:spcAft>
                <a:spcPts val="600"/>
              </a:spcAft>
              <a:buFont typeface="Arial" panose="020B0604020202020204" pitchFamily="34" charset="0"/>
              <a:buChar char="•"/>
            </a:pPr>
            <a:r>
              <a:rPr lang="en-US" sz="918" kern="1200" dirty="0">
                <a:solidFill>
                  <a:schemeClr val="tx1"/>
                </a:solidFill>
                <a:latin typeface="+mn-lt"/>
                <a:ea typeface="+mn-ea"/>
                <a:cs typeface="+mn-cs"/>
              </a:rPr>
              <a:t>Modifications to </a:t>
            </a:r>
            <a:r>
              <a:rPr lang="en-US" sz="918" kern="1200" dirty="0" err="1">
                <a:solidFill>
                  <a:schemeClr val="tx1"/>
                </a:solidFill>
                <a:latin typeface="+mn-lt"/>
                <a:ea typeface="+mn-ea"/>
                <a:cs typeface="+mn-cs"/>
              </a:rPr>
              <a:t>PyCOMPSs</a:t>
            </a:r>
            <a:r>
              <a:rPr lang="en-US" sz="918" kern="1200" dirty="0">
                <a:solidFill>
                  <a:schemeClr val="tx1"/>
                </a:solidFill>
                <a:latin typeface="+mn-lt"/>
                <a:ea typeface="+mn-ea"/>
                <a:cs typeface="+mn-cs"/>
              </a:rPr>
              <a:t> task decorator</a:t>
            </a:r>
          </a:p>
          <a:p>
            <a:pPr marL="378905" lvl="1" indent="-145733" defTabSz="466344">
              <a:spcAft>
                <a:spcPts val="600"/>
              </a:spcAft>
              <a:buFont typeface="Arial" panose="020B0604020202020204" pitchFamily="34" charset="0"/>
              <a:buChar char="•"/>
            </a:pPr>
            <a:r>
              <a:rPr lang="en-US" sz="918" kern="1200" dirty="0">
                <a:solidFill>
                  <a:schemeClr val="tx1"/>
                </a:solidFill>
                <a:latin typeface="+mn-lt"/>
                <a:ea typeface="+mn-ea"/>
                <a:cs typeface="+mn-cs"/>
              </a:rPr>
              <a:t>"Recurrent read-only" flag for task arguments</a:t>
            </a:r>
          </a:p>
          <a:p>
            <a:pPr marL="378905" lvl="1" indent="-145733" defTabSz="466344">
              <a:spcAft>
                <a:spcPts val="600"/>
              </a:spcAft>
              <a:buFont typeface="Arial" panose="020B0604020202020204" pitchFamily="34" charset="0"/>
              <a:buChar char="•"/>
            </a:pPr>
            <a:r>
              <a:rPr lang="en-US" sz="918" kern="1200" dirty="0">
                <a:solidFill>
                  <a:schemeClr val="tx1"/>
                </a:solidFill>
                <a:latin typeface="+mn-lt"/>
                <a:ea typeface="+mn-ea"/>
                <a:cs typeface="+mn-cs"/>
              </a:rPr>
              <a:t>NumPy arrays loaded/retrieved from shared memory</a:t>
            </a:r>
          </a:p>
          <a:p>
            <a:pPr marL="378905" lvl="1" indent="-145733" defTabSz="466344">
              <a:spcAft>
                <a:spcPts val="600"/>
              </a:spcAft>
              <a:buFont typeface="Arial" panose="020B0604020202020204" pitchFamily="34" charset="0"/>
              <a:buChar char="•"/>
            </a:pPr>
            <a:r>
              <a:rPr lang="en-US" sz="918" kern="1200" dirty="0">
                <a:solidFill>
                  <a:schemeClr val="tx1"/>
                </a:solidFill>
                <a:latin typeface="+mn-lt"/>
                <a:ea typeface="+mn-ea"/>
                <a:cs typeface="+mn-cs"/>
              </a:rPr>
              <a:t>Internal dictionary for shared memory management</a:t>
            </a:r>
          </a:p>
          <a:p>
            <a:pPr marL="378905" lvl="1" indent="-145733" defTabSz="466344">
              <a:spcAft>
                <a:spcPts val="600"/>
              </a:spcAft>
              <a:buFont typeface="Arial" panose="020B0604020202020204" pitchFamily="34" charset="0"/>
              <a:buChar char="•"/>
            </a:pPr>
            <a:r>
              <a:rPr lang="en-US" sz="918" kern="1200" dirty="0">
                <a:solidFill>
                  <a:schemeClr val="tx1"/>
                </a:solidFill>
                <a:latin typeface="+mn-lt"/>
                <a:ea typeface="+mn-ea"/>
                <a:cs typeface="+mn-cs"/>
              </a:rPr>
              <a:t>Enhances usability for data-intensive applications</a:t>
            </a:r>
            <a:endParaRPr lang="en-US" dirty="0"/>
          </a:p>
        </p:txBody>
      </p:sp>
      <p:pic>
        <p:nvPicPr>
          <p:cNvPr id="13" name="Picture 12" descr="A diagram of a memory manager&#10;&#10;Description automatically generated">
            <a:extLst>
              <a:ext uri="{FF2B5EF4-FFF2-40B4-BE49-F238E27FC236}">
                <a16:creationId xmlns:a16="http://schemas.microsoft.com/office/drawing/2014/main" id="{60AD6B80-5B0E-9DE8-1B9C-3B601BE8E8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8264" y="2482152"/>
            <a:ext cx="4362923" cy="2496508"/>
          </a:xfrm>
          <a:prstGeom prst="rect">
            <a:avLst/>
          </a:prstGeom>
        </p:spPr>
      </p:pic>
      <p:sp>
        <p:nvSpPr>
          <p:cNvPr id="15" name="TextBox 14">
            <a:extLst>
              <a:ext uri="{FF2B5EF4-FFF2-40B4-BE49-F238E27FC236}">
                <a16:creationId xmlns:a16="http://schemas.microsoft.com/office/drawing/2014/main" id="{02F0E155-2953-1FC2-89F8-88A0066791AD}"/>
              </a:ext>
            </a:extLst>
          </p:cNvPr>
          <p:cNvSpPr txBox="1"/>
          <p:nvPr/>
        </p:nvSpPr>
        <p:spPr>
          <a:xfrm>
            <a:off x="5527028" y="5518220"/>
            <a:ext cx="6096000" cy="800219"/>
          </a:xfrm>
          <a:prstGeom prst="rect">
            <a:avLst/>
          </a:prstGeom>
          <a:noFill/>
        </p:spPr>
        <p:txBody>
          <a:bodyPr wrap="square">
            <a:spAutoFit/>
          </a:bodyPr>
          <a:lstStyle/>
          <a:p>
            <a:r>
              <a:rPr lang="en-US" sz="920" b="1" dirty="0"/>
              <a:t>Key Advantages </a:t>
            </a:r>
          </a:p>
          <a:p>
            <a:pPr marL="742950" lvl="1" indent="-285750">
              <a:buFont typeface="Arial" panose="020B0604020202020204" pitchFamily="34" charset="0"/>
              <a:buChar char="•"/>
            </a:pPr>
            <a:r>
              <a:rPr lang="en-US" sz="920" dirty="0"/>
              <a:t>Enhanced performance and scalability</a:t>
            </a:r>
          </a:p>
          <a:p>
            <a:pPr marL="742950" lvl="1" indent="-285750">
              <a:buFont typeface="Arial" panose="020B0604020202020204" pitchFamily="34" charset="0"/>
              <a:buChar char="•"/>
            </a:pPr>
            <a:r>
              <a:rPr lang="en-US" sz="920" dirty="0"/>
              <a:t>Efficient distributed computing in Python</a:t>
            </a:r>
          </a:p>
          <a:p>
            <a:pPr marL="742950" lvl="1" indent="-285750">
              <a:buFont typeface="Arial" panose="020B0604020202020204" pitchFamily="34" charset="0"/>
              <a:buChar char="•"/>
            </a:pPr>
            <a:r>
              <a:rPr lang="en-US" sz="920" dirty="0"/>
              <a:t>Seamless shared memory access</a:t>
            </a:r>
          </a:p>
          <a:p>
            <a:pPr marL="742950" lvl="1" indent="-285750">
              <a:buFont typeface="Arial" panose="020B0604020202020204" pitchFamily="34" charset="0"/>
              <a:buChar char="•"/>
            </a:pPr>
            <a:r>
              <a:rPr lang="en-US" sz="920" dirty="0"/>
              <a:t>Optimized for data-intensive applications</a:t>
            </a:r>
          </a:p>
        </p:txBody>
      </p:sp>
    </p:spTree>
    <p:extLst>
      <p:ext uri="{BB962C8B-B14F-4D97-AF65-F5344CB8AC3E}">
        <p14:creationId xmlns:p14="http://schemas.microsoft.com/office/powerpoint/2010/main" val="3399444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1FBDF3-61B8-7BCE-ADF5-117D560F9D8E}"/>
              </a:ext>
            </a:extLst>
          </p:cNvPr>
          <p:cNvSpPr txBox="1"/>
          <p:nvPr/>
        </p:nvSpPr>
        <p:spPr>
          <a:xfrm>
            <a:off x="265471" y="529355"/>
            <a:ext cx="6096000" cy="2723823"/>
          </a:xfrm>
          <a:prstGeom prst="rect">
            <a:avLst/>
          </a:prstGeom>
          <a:noFill/>
        </p:spPr>
        <p:txBody>
          <a:bodyPr wrap="square">
            <a:spAutoFit/>
          </a:bodyPr>
          <a:lstStyle/>
          <a:p>
            <a:pPr algn="ctr"/>
            <a:r>
              <a:rPr lang="en-US" sz="900" b="1"/>
              <a:t>Weight-based parallel Booth multiplier architecture Introduce the proposed weight-based parallel Booth multiplier architecture, which departs from conventional adder array designs.</a:t>
            </a:r>
          </a:p>
          <a:p>
            <a:pPr algn="ctr"/>
            <a:endParaRPr lang="en-US" sz="900" b="1"/>
          </a:p>
          <a:p>
            <a:r>
              <a:rPr lang="en-US" sz="900"/>
              <a:t>Introduction of Weight-Based Parallel Booth Multiplier Architecture**: Introduce the novel weight-based parallel Booth multiplier architecture as a departure from conventional adder array designs, offering potential improvements in speed and resource utilization.</a:t>
            </a:r>
          </a:p>
          <a:p>
            <a:pPr>
              <a:buFont typeface="Arial" panose="020B0604020202020204" pitchFamily="34" charset="0"/>
              <a:buChar char="•"/>
            </a:pPr>
            <a:endParaRPr lang="en-US" sz="900"/>
          </a:p>
          <a:p>
            <a:r>
              <a:rPr lang="en-US" sz="900"/>
              <a:t>Utilization of Racetrack Memory-based Adders**: Explain how the architecture parallelizes the addition of partial products using racetrack memory-based adders, leveraging the high density of racetrack memory to enhance computational efficiency.</a:t>
            </a:r>
          </a:p>
          <a:p>
            <a:pPr>
              <a:buFont typeface="Arial" panose="020B0604020202020204" pitchFamily="34" charset="0"/>
              <a:buChar char="•"/>
            </a:pPr>
            <a:endParaRPr lang="en-US" sz="900"/>
          </a:p>
          <a:p>
            <a:r>
              <a:rPr lang="en-US" sz="900"/>
              <a:t>Weight-Based Parallel Addition Technique:  weight-based parallel addition technique employed, utilizing 2n adders (n-1 full adders and 1 half adder) to handle computations, where n represents the bit-width of the operation, offering a balance between complexity and performance.</a:t>
            </a:r>
          </a:p>
          <a:p>
            <a:pPr>
              <a:buFont typeface="Arial" panose="020B0604020202020204" pitchFamily="34" charset="0"/>
              <a:buChar char="•"/>
            </a:pPr>
            <a:endParaRPr lang="en-US" sz="900"/>
          </a:p>
          <a:p>
            <a:r>
              <a:rPr lang="en-US" sz="900"/>
              <a:t>Pipelining Strategy: Highlighting the pipelining strategy employed, where bits of the same weight from different partial products are grouped and fed into designated adders using FIFOs of varying lengths, implemented with racetrack stripes. Emphasize how this approach enhances the throughput of the multiplication process and optimizes resource utilization within the architecture.</a:t>
            </a:r>
            <a:endParaRPr lang="en-US" sz="900" dirty="0"/>
          </a:p>
        </p:txBody>
      </p:sp>
      <p:sp>
        <p:nvSpPr>
          <p:cNvPr id="7" name="TextBox 6">
            <a:extLst>
              <a:ext uri="{FF2B5EF4-FFF2-40B4-BE49-F238E27FC236}">
                <a16:creationId xmlns:a16="http://schemas.microsoft.com/office/drawing/2014/main" id="{DA2E5645-C4D7-C7C4-8A23-CA470BBA228D}"/>
              </a:ext>
            </a:extLst>
          </p:cNvPr>
          <p:cNvSpPr txBox="1"/>
          <p:nvPr/>
        </p:nvSpPr>
        <p:spPr>
          <a:xfrm>
            <a:off x="265471" y="3851469"/>
            <a:ext cx="6096000" cy="2031325"/>
          </a:xfrm>
          <a:prstGeom prst="rect">
            <a:avLst/>
          </a:prstGeom>
          <a:noFill/>
        </p:spPr>
        <p:txBody>
          <a:bodyPr wrap="square">
            <a:spAutoFit/>
          </a:bodyPr>
          <a:lstStyle/>
          <a:p>
            <a:r>
              <a:rPr lang="en-IN" sz="900" b="1" dirty="0"/>
              <a:t>Introduction of Write Optimization Technique for Racetrack Memory</a:t>
            </a:r>
          </a:p>
          <a:p>
            <a:endParaRPr lang="en-IN" sz="900" b="1" dirty="0"/>
          </a:p>
          <a:p>
            <a:r>
              <a:rPr lang="en-IN" sz="900" dirty="0"/>
              <a:t>Pre-storing 0s and 1s in Stripes:  The technique of pre-storing 0s and 1s in stripes connected to input Magnetic Tunnel Junctions (MTJs), effectively reducing the need for frequent write operations. These pre-stored values serve as ready-to-use data, eliminating the necessity of writing new data during every operation.</a:t>
            </a:r>
          </a:p>
          <a:p>
            <a:endParaRPr lang="en-IN" sz="900" dirty="0"/>
          </a:p>
          <a:p>
            <a:r>
              <a:rPr lang="en-IN" sz="900" dirty="0"/>
              <a:t>Finite State Machine Control Logic: The implementation of a finite state machine control logic, responsible for orchestrating the read, write, and shift operations within the racetrack memory architecture. This control logic ensures seamless transitions between different states and optimizes the utilization of pre-stored data for efficient computation.</a:t>
            </a:r>
          </a:p>
          <a:p>
            <a:endParaRPr lang="en-IN" sz="900" dirty="0"/>
          </a:p>
          <a:p>
            <a:r>
              <a:rPr lang="en-IN" sz="900" dirty="0"/>
              <a:t>Reduction in Energy Consumption and Processing Time: The significant reductions achieved in energy consumption and processing time as a result of minimizing the need for write operations and substituting them with energy-efficient shift operations. By leveraging pre-stored data and efficient control logic, the optimization technique enhances the overall performance and energy efficiency of racetrack memory systems.</a:t>
            </a:r>
          </a:p>
        </p:txBody>
      </p:sp>
      <p:sp>
        <p:nvSpPr>
          <p:cNvPr id="9" name="TextBox 8">
            <a:extLst>
              <a:ext uri="{FF2B5EF4-FFF2-40B4-BE49-F238E27FC236}">
                <a16:creationId xmlns:a16="http://schemas.microsoft.com/office/drawing/2014/main" id="{33F885C3-6807-534D-8979-2DFAF2B7FA08}"/>
              </a:ext>
            </a:extLst>
          </p:cNvPr>
          <p:cNvSpPr txBox="1"/>
          <p:nvPr/>
        </p:nvSpPr>
        <p:spPr>
          <a:xfrm>
            <a:off x="6685936" y="1747833"/>
            <a:ext cx="5132438" cy="1646605"/>
          </a:xfrm>
          <a:prstGeom prst="rect">
            <a:avLst/>
          </a:prstGeom>
          <a:noFill/>
        </p:spPr>
        <p:txBody>
          <a:bodyPr wrap="square">
            <a:spAutoFit/>
          </a:bodyPr>
          <a:lstStyle/>
          <a:p>
            <a:pPr algn="ctr"/>
            <a:r>
              <a:rPr lang="en-US" sz="1000" b="1" dirty="0"/>
              <a:t>Simulation-driven assessment of performance and energy efficiency</a:t>
            </a:r>
          </a:p>
          <a:p>
            <a:pPr algn="ctr"/>
            <a:endParaRPr lang="en-US" sz="1000" b="1" dirty="0"/>
          </a:p>
          <a:p>
            <a:r>
              <a:rPr lang="en-US" sz="900" dirty="0"/>
              <a:t>SPICE simulations conducted using a 45nm CMOS design kit and a validated racetrack memory model.</a:t>
            </a:r>
          </a:p>
          <a:p>
            <a:endParaRPr lang="en-US" sz="900" dirty="0"/>
          </a:p>
          <a:p>
            <a:r>
              <a:rPr lang="en-US" sz="900" dirty="0"/>
              <a:t>the evaluation of design parameters such as radix, architectures, and input bit-widths, enabling a thorough analysis of trade-offs between throughput, area overhead, and energy consumption for different multiplier configurations.</a:t>
            </a:r>
          </a:p>
          <a:p>
            <a:endParaRPr lang="en-US" sz="900" dirty="0"/>
          </a:p>
          <a:p>
            <a:r>
              <a:rPr lang="en-US" sz="900" dirty="0"/>
              <a:t>Emphasize the insights gained from the simulations, providing a deep understanding of the performance characteristics of the proposed design.</a:t>
            </a:r>
          </a:p>
        </p:txBody>
      </p:sp>
      <p:pic>
        <p:nvPicPr>
          <p:cNvPr id="11" name="Picture 10" descr="A diagram of a track&#10;&#10;Description automatically generated">
            <a:extLst>
              <a:ext uri="{FF2B5EF4-FFF2-40B4-BE49-F238E27FC236}">
                <a16:creationId xmlns:a16="http://schemas.microsoft.com/office/drawing/2014/main" id="{D0E3367C-0397-79C1-C172-079E11289E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8215" y="3947431"/>
            <a:ext cx="3806613" cy="1839400"/>
          </a:xfrm>
          <a:prstGeom prst="rect">
            <a:avLst/>
          </a:prstGeom>
        </p:spPr>
      </p:pic>
    </p:spTree>
    <p:extLst>
      <p:ext uri="{BB962C8B-B14F-4D97-AF65-F5344CB8AC3E}">
        <p14:creationId xmlns:p14="http://schemas.microsoft.com/office/powerpoint/2010/main" val="3785110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22E83D-CFA3-332F-72EB-878A8B0EA742}"/>
              </a:ext>
            </a:extLst>
          </p:cNvPr>
          <p:cNvSpPr>
            <a:spLocks noGrp="1"/>
          </p:cNvSpPr>
          <p:nvPr>
            <p:ph type="title"/>
          </p:nvPr>
        </p:nvSpPr>
        <p:spPr>
          <a:xfrm>
            <a:off x="4654296" y="329184"/>
            <a:ext cx="6894576" cy="1783080"/>
          </a:xfrm>
        </p:spPr>
        <p:txBody>
          <a:bodyPr anchor="b">
            <a:normAutofit/>
          </a:bodyPr>
          <a:lstStyle/>
          <a:p>
            <a:r>
              <a:rPr lang="en-IN" sz="5400"/>
              <a:t>Future Scope and Challenges</a:t>
            </a:r>
          </a:p>
        </p:txBody>
      </p:sp>
      <p:pic>
        <p:nvPicPr>
          <p:cNvPr id="7" name="Picture 6" descr="A 3D pattern of ring shapes connected by lines">
            <a:extLst>
              <a:ext uri="{FF2B5EF4-FFF2-40B4-BE49-F238E27FC236}">
                <a16:creationId xmlns:a16="http://schemas.microsoft.com/office/drawing/2014/main" id="{27ECC83E-3F32-53E2-BADF-01E3D129F719}"/>
              </a:ext>
            </a:extLst>
          </p:cNvPr>
          <p:cNvPicPr>
            <a:picLocks noChangeAspect="1"/>
          </p:cNvPicPr>
          <p:nvPr/>
        </p:nvPicPr>
        <p:blipFill rotWithShape="1">
          <a:blip r:embed="rId2"/>
          <a:srcRect l="17019" r="49742"/>
          <a:stretch/>
        </p:blipFill>
        <p:spPr>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11"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DCF62872-9F90-8E2E-18BA-296866E0F842}"/>
              </a:ext>
            </a:extLst>
          </p:cNvPr>
          <p:cNvSpPr>
            <a:spLocks noGrp="1"/>
          </p:cNvSpPr>
          <p:nvPr>
            <p:ph idx="1"/>
          </p:nvPr>
        </p:nvSpPr>
        <p:spPr>
          <a:xfrm>
            <a:off x="4654296" y="2706624"/>
            <a:ext cx="6894576" cy="3483864"/>
          </a:xfrm>
        </p:spPr>
        <p:txBody>
          <a:bodyPr>
            <a:normAutofit/>
          </a:bodyPr>
          <a:lstStyle/>
          <a:p>
            <a:pPr marL="0" indent="0">
              <a:buNone/>
            </a:pPr>
            <a:r>
              <a:rPr lang="en-US" sz="1000"/>
              <a:t>1. Tailoring memory architectures for edge computing and IoT demands energy efficiency and reliability.</a:t>
            </a:r>
          </a:p>
          <a:p>
            <a:pPr marL="0" indent="0">
              <a:buNone/>
            </a:pPr>
            <a:r>
              <a:rPr lang="en-US" sz="1000"/>
              <a:t>2. Integrating security directly into memory minimizes energy overhead while enhancing protection.</a:t>
            </a:r>
          </a:p>
          <a:p>
            <a:pPr marL="0" indent="0">
              <a:buNone/>
            </a:pPr>
            <a:r>
              <a:rPr lang="en-US" sz="1000"/>
              <a:t>3. Collaboration among experts fosters innovation in energy-efficient memory solutions.</a:t>
            </a:r>
          </a:p>
          <a:p>
            <a:pPr marL="0" indent="0">
              <a:buNone/>
            </a:pPr>
            <a:r>
              <a:rPr lang="en-US" sz="1000"/>
              <a:t>4. Hybrid memory hierarchies offer scalability by integrating diverse memory technologies.</a:t>
            </a:r>
          </a:p>
          <a:p>
            <a:pPr marL="0" indent="0">
              <a:buNone/>
            </a:pPr>
            <a:r>
              <a:rPr lang="en-US" sz="1000"/>
              <a:t>5. Recycling and renewable energy adoption reduce the environmental impact of memory systems.</a:t>
            </a:r>
          </a:p>
          <a:p>
            <a:pPr marL="0" indent="0">
              <a:buNone/>
            </a:pPr>
            <a:r>
              <a:rPr lang="en-US" sz="1000"/>
              <a:t>6. Low-power design techniques optimize energy efficiency in memory architectures.</a:t>
            </a:r>
          </a:p>
          <a:p>
            <a:pPr marL="0" indent="0">
              <a:buNone/>
            </a:pPr>
            <a:r>
              <a:rPr lang="en-US" sz="1000"/>
              <a:t>7. Performance enhancement techniques, such as parallelism, maximize throughput.</a:t>
            </a:r>
          </a:p>
          <a:p>
            <a:pPr marL="0" indent="0">
              <a:buNone/>
            </a:pPr>
            <a:r>
              <a:rPr lang="en-US" sz="1000"/>
              <a:t>8. Error detection and correction mechanisms ensure reliability in energy-efficient memory.</a:t>
            </a:r>
          </a:p>
          <a:p>
            <a:pPr marL="0" indent="0">
              <a:buNone/>
            </a:pPr>
            <a:r>
              <a:rPr lang="en-US" sz="1000"/>
              <a:t>9. Adaptive strategies optimize resource utilization for dynamic workloads.</a:t>
            </a:r>
          </a:p>
          <a:p>
            <a:pPr marL="0" indent="0">
              <a:buNone/>
            </a:pPr>
            <a:r>
              <a:rPr lang="en-US" sz="1000"/>
              <a:t>10. Cost-effective design strategies make energy-efficient memory architectures viable.</a:t>
            </a:r>
          </a:p>
          <a:p>
            <a:pPr marL="0" indent="0">
              <a:buNone/>
            </a:pPr>
            <a:r>
              <a:rPr lang="en-US" sz="1000"/>
              <a:t>11. Regulatory compliance ensures adherence to standards for energy efficiency and security.</a:t>
            </a:r>
          </a:p>
          <a:p>
            <a:pPr marL="0" indent="0">
              <a:buNone/>
            </a:pPr>
            <a:r>
              <a:rPr lang="en-US" sz="1000"/>
              <a:t>12. Improved user experience is achieved through optimized latency and responsiveness.</a:t>
            </a:r>
          </a:p>
          <a:p>
            <a:pPr marL="0" indent="0">
              <a:buNone/>
            </a:pPr>
            <a:r>
              <a:rPr lang="en-US" sz="1000"/>
              <a:t>13. Continuous innovation drives the evolution of energy-efficient memory technologies.</a:t>
            </a:r>
            <a:endParaRPr lang="en-IN" sz="1000"/>
          </a:p>
        </p:txBody>
      </p:sp>
    </p:spTree>
    <p:extLst>
      <p:ext uri="{BB962C8B-B14F-4D97-AF65-F5344CB8AC3E}">
        <p14:creationId xmlns:p14="http://schemas.microsoft.com/office/powerpoint/2010/main" val="3760489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EFB7DB-7518-E5C5-AAC7-9B9AF0D46EC0}"/>
              </a:ext>
            </a:extLst>
          </p:cNvPr>
          <p:cNvSpPr>
            <a:spLocks noGrp="1"/>
          </p:cNvSpPr>
          <p:nvPr>
            <p:ph type="title"/>
          </p:nvPr>
        </p:nvSpPr>
        <p:spPr>
          <a:xfrm>
            <a:off x="808638" y="386930"/>
            <a:ext cx="9236700" cy="1188950"/>
          </a:xfrm>
        </p:spPr>
        <p:txBody>
          <a:bodyPr anchor="b">
            <a:normAutofit/>
          </a:bodyPr>
          <a:lstStyle/>
          <a:p>
            <a:r>
              <a:rPr lang="en-US" sz="5400"/>
              <a:t>Conclusion</a:t>
            </a:r>
            <a:endParaRPr lang="en-IN" sz="5400"/>
          </a:p>
        </p:txBody>
      </p:sp>
      <p:grpSp>
        <p:nvGrpSpPr>
          <p:cNvPr id="24" name="Group 23">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5" name="Rectangle 24">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2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01AEFAA-2AC8-224A-9408-9E55922B00D2}"/>
              </a:ext>
            </a:extLst>
          </p:cNvPr>
          <p:cNvSpPr>
            <a:spLocks noGrp="1"/>
          </p:cNvSpPr>
          <p:nvPr>
            <p:ph idx="1"/>
          </p:nvPr>
        </p:nvSpPr>
        <p:spPr>
          <a:xfrm>
            <a:off x="793660" y="2599509"/>
            <a:ext cx="10143668" cy="3435531"/>
          </a:xfrm>
        </p:spPr>
        <p:txBody>
          <a:bodyPr anchor="ctr">
            <a:normAutofit/>
          </a:bodyPr>
          <a:lstStyle/>
          <a:p>
            <a:pPr marL="0" indent="0">
              <a:buNone/>
            </a:pPr>
            <a:r>
              <a:rPr lang="en-US" sz="2000" dirty="0"/>
              <a:t>This Presentation illustrates a spectrum of techniques tailored to confront energy optimization challenges across diverse computing domains, including non-volatile memory utilization, cache hierarchy optimization, and real-time system management. By demonstrating their collective efficacy, the paper underscores their potential to significantly enhance energy efficiency, performance, and scalability within memory architectures. Looking forward, continued research and innovation are imperative to address evolving challenges, strengthen security measures, overcome scalability hurdles, and prioritize environmental sustainability. Emphasizing interdisciplinary collaboration, the field is poised for advancement, fostering innovation and delivering energy-efficient memory architectures capable of meeting the evolving needs of future computing models while minimizing their ecological footprint.</a:t>
            </a:r>
            <a:endParaRPr lang="en-IN" sz="2000" dirty="0"/>
          </a:p>
        </p:txBody>
      </p:sp>
    </p:spTree>
    <p:extLst>
      <p:ext uri="{BB962C8B-B14F-4D97-AF65-F5344CB8AC3E}">
        <p14:creationId xmlns:p14="http://schemas.microsoft.com/office/powerpoint/2010/main" val="4131414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FA3F45-0E38-2975-435D-A5DEC999A768}"/>
              </a:ext>
            </a:extLst>
          </p:cNvPr>
          <p:cNvSpPr>
            <a:spLocks noGrp="1"/>
          </p:cNvSpPr>
          <p:nvPr>
            <p:ph type="title"/>
          </p:nvPr>
        </p:nvSpPr>
        <p:spPr>
          <a:xfrm>
            <a:off x="1752906" y="2903566"/>
            <a:ext cx="5709777" cy="3897284"/>
          </a:xfrm>
        </p:spPr>
        <p:txBody>
          <a:bodyPr vert="horz" lIns="91440" tIns="45720" rIns="91440" bIns="45720" rtlCol="0" anchor="t">
            <a:normAutofit/>
          </a:bodyPr>
          <a:lstStyle/>
          <a:p>
            <a:r>
              <a:rPr lang="en-US" sz="7200" kern="1200" dirty="0">
                <a:solidFill>
                  <a:schemeClr val="tx1"/>
                </a:solidFill>
                <a:latin typeface="Arabic Typesetting" panose="020F0502020204030204" pitchFamily="66" charset="-78"/>
                <a:cs typeface="Arabic Typesetting" panose="020F0502020204030204" pitchFamily="66" charset="-78"/>
              </a:rPr>
              <a:t>Thank you</a:t>
            </a:r>
          </a:p>
        </p:txBody>
      </p:sp>
      <p:grpSp>
        <p:nvGrpSpPr>
          <p:cNvPr id="17" name="Group 16">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Smiling Face with No Fill">
            <a:extLst>
              <a:ext uri="{FF2B5EF4-FFF2-40B4-BE49-F238E27FC236}">
                <a16:creationId xmlns:a16="http://schemas.microsoft.com/office/drawing/2014/main" id="{5ADBEEC1-134B-5AFE-6C16-35D7BC6F618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57597" y="666728"/>
            <a:ext cx="5465791" cy="5465791"/>
          </a:xfrm>
          <a:prstGeom prst="rect">
            <a:avLst/>
          </a:prstGeom>
        </p:spPr>
      </p:pic>
    </p:spTree>
    <p:extLst>
      <p:ext uri="{BB962C8B-B14F-4D97-AF65-F5344CB8AC3E}">
        <p14:creationId xmlns:p14="http://schemas.microsoft.com/office/powerpoint/2010/main" val="2353911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TotalTime>
  <Words>1607</Words>
  <Application>Microsoft Office PowerPoint</Application>
  <PresentationFormat>Widescreen</PresentationFormat>
  <Paragraphs>76</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Alasassy Caps</vt:lpstr>
      <vt:lpstr>Aptos</vt:lpstr>
      <vt:lpstr>Aptos Display</vt:lpstr>
      <vt:lpstr>Arabic Typesetting</vt:lpstr>
      <vt:lpstr>Arial</vt:lpstr>
      <vt:lpstr>Calibri</vt:lpstr>
      <vt:lpstr>Office Theme</vt:lpstr>
      <vt:lpstr>Energy Optimizations For Memory Architectures</vt:lpstr>
      <vt:lpstr>Introduction </vt:lpstr>
      <vt:lpstr>Related Work</vt:lpstr>
      <vt:lpstr>Design and implementation  </vt:lpstr>
      <vt:lpstr>This  slide focuses on a pivotal scheme designed to optimize job scheduling efficiency within High-Performance Computing (HPC) systems.</vt:lpstr>
      <vt:lpstr>PowerPoint Presentation</vt:lpstr>
      <vt:lpstr>PowerPoint Presentation</vt:lpstr>
      <vt:lpstr>Future Scope and Challenges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Energy Optimizations For Memory Architectures</dc:title>
  <dc:creator>Sekar,Mukesh</dc:creator>
  <cp:lastModifiedBy>Sekar,Mukesh</cp:lastModifiedBy>
  <cp:revision>6</cp:revision>
  <dcterms:created xsi:type="dcterms:W3CDTF">2024-05-05T14:51:46Z</dcterms:created>
  <dcterms:modified xsi:type="dcterms:W3CDTF">2024-05-05T19:35:54Z</dcterms:modified>
</cp:coreProperties>
</file>